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 id="2147483687" r:id="rId2"/>
  </p:sldMasterIdLst>
  <p:notesMasterIdLst>
    <p:notesMasterId r:id="rId17"/>
  </p:notesMasterIdLst>
  <p:sldIdLst>
    <p:sldId id="256" r:id="rId3"/>
    <p:sldId id="257" r:id="rId4"/>
    <p:sldId id="268" r:id="rId5"/>
    <p:sldId id="269" r:id="rId6"/>
    <p:sldId id="270" r:id="rId7"/>
    <p:sldId id="271" r:id="rId8"/>
    <p:sldId id="272" r:id="rId9"/>
    <p:sldId id="273" r:id="rId10"/>
    <p:sldId id="274" r:id="rId11"/>
    <p:sldId id="275" r:id="rId12"/>
    <p:sldId id="276" r:id="rId13"/>
    <p:sldId id="277" r:id="rId14"/>
    <p:sldId id="267"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944E76-AE2B-4849-B905-602735718206}" type="datetimeFigureOut">
              <a:rPr lang="en-IN" smtClean="0"/>
              <a:t>24-04-2026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F5CA1A-07F2-45B4-BD7D-1050DEA74835}" type="slidenum">
              <a:rPr lang="en-IN" smtClean="0"/>
              <a:t>‹#›</a:t>
            </a:fld>
            <a:endParaRPr lang="en-IN"/>
          </a:p>
        </p:txBody>
      </p:sp>
    </p:spTree>
    <p:extLst>
      <p:ext uri="{BB962C8B-B14F-4D97-AF65-F5344CB8AC3E}">
        <p14:creationId xmlns:p14="http://schemas.microsoft.com/office/powerpoint/2010/main" val="545602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CF5CA1A-07F2-45B4-BD7D-1050DEA74835}" type="slidenum">
              <a:rPr lang="en-IN" smtClean="0"/>
              <a:t>8</a:t>
            </a:fld>
            <a:endParaRPr lang="en-IN"/>
          </a:p>
        </p:txBody>
      </p:sp>
    </p:spTree>
    <p:extLst>
      <p:ext uri="{BB962C8B-B14F-4D97-AF65-F5344CB8AC3E}">
        <p14:creationId xmlns:p14="http://schemas.microsoft.com/office/powerpoint/2010/main" val="15876857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4/24/2026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23604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4/24/2026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36842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4/24/2026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53791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4/24/2026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6982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4/24/2026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71976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4/24/2026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36793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4/24/2026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88830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4/24/2026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75182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4/24/2026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0949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4/24/2026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34864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4/24/2026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169853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1D1EADE-8E88-4C7C-8AC5-FB148DE4940E}" type="datetime1">
              <a:rPr lang="en-US" smtClean="0"/>
              <a:t>4/24/2026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04150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7B6794-849E-4626-908B-D15793550EFB}" type="datetime1">
              <a:rPr lang="en-US" smtClean="0"/>
              <a:t>4/24/2026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679130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4/24/2026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200171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462B0B-D248-4FFB-8695-AD7FA4B1284A}" type="datetime1">
              <a:rPr lang="en-US" smtClean="0"/>
              <a:t>4/24/2026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4584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378EFB-9159-4510-B73F-4F0409ADE937}" type="datetime1">
              <a:rPr lang="en-US" smtClean="0"/>
              <a:t>4/24/2026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345415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BC9412-2452-4BED-A324-9D8C115361AD}" type="datetime1">
              <a:rPr lang="en-US" smtClean="0"/>
              <a:t>4/24/2026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51433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4/24/2026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573076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4/24/2026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306190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4/24/2026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91430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3C8B9C-477D-492A-96AD-1FC2CC997A73}" type="datetime1">
              <a:rPr lang="en-US" smtClean="0"/>
              <a:t>4/24/2026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9032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D3AED5-E26D-4E29-B1B3-7847B6779594}" type="datetime1">
              <a:rPr lang="en-US" smtClean="0"/>
              <a:t>4/24/2026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70938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4/24/2026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6399269"/>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4/24/2026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835153129"/>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5.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2" name="Rectangle 1041">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1028" name="Picture 4" descr="The Marvel Cinematic Universe re-issues “Iron Man” in 4K">
            <a:extLst>
              <a:ext uri="{FF2B5EF4-FFF2-40B4-BE49-F238E27FC236}">
                <a16:creationId xmlns:a16="http://schemas.microsoft.com/office/drawing/2014/main" id="{4BFB63C1-50E4-BA2B-8470-BA5FB917C5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595" t="9091" r="17335" b="1"/>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044" name="Rectangle 1043">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86400"/>
            <a:ext cx="12191999" cy="137160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7546F2D7-6F98-2FAC-00DE-12C2E3783320}"/>
              </a:ext>
            </a:extLst>
          </p:cNvPr>
          <p:cNvSpPr>
            <a:spLocks noGrp="1"/>
          </p:cNvSpPr>
          <p:nvPr>
            <p:ph type="ctrTitle"/>
          </p:nvPr>
        </p:nvSpPr>
        <p:spPr>
          <a:xfrm>
            <a:off x="320040" y="5715000"/>
            <a:ext cx="8027544" cy="960120"/>
          </a:xfrm>
          <a:ln>
            <a:noFill/>
          </a:ln>
        </p:spPr>
        <p:txBody>
          <a:bodyPr anchor="ctr">
            <a:normAutofit/>
          </a:bodyPr>
          <a:lstStyle/>
          <a:p>
            <a:pPr>
              <a:lnSpc>
                <a:spcPct val="90000"/>
              </a:lnSpc>
            </a:pPr>
            <a:r>
              <a:rPr lang="en-US" sz="3100" dirty="0"/>
              <a:t>Movie Plot + Character Intelligence using RAG</a:t>
            </a:r>
            <a:endParaRPr lang="en-IN" sz="3100" dirty="0"/>
          </a:p>
        </p:txBody>
      </p:sp>
      <p:sp>
        <p:nvSpPr>
          <p:cNvPr id="3" name="Subtitle 2">
            <a:extLst>
              <a:ext uri="{FF2B5EF4-FFF2-40B4-BE49-F238E27FC236}">
                <a16:creationId xmlns:a16="http://schemas.microsoft.com/office/drawing/2014/main" id="{74777808-43C8-0392-796A-E52750E93B36}"/>
              </a:ext>
            </a:extLst>
          </p:cNvPr>
          <p:cNvSpPr>
            <a:spLocks noGrp="1"/>
          </p:cNvSpPr>
          <p:nvPr>
            <p:ph type="subTitle" idx="1"/>
          </p:nvPr>
        </p:nvSpPr>
        <p:spPr>
          <a:xfrm>
            <a:off x="7606602" y="5550408"/>
            <a:ext cx="4371151" cy="1124712"/>
          </a:xfrm>
        </p:spPr>
        <p:txBody>
          <a:bodyPr anchor="ctr">
            <a:noAutofit/>
          </a:bodyPr>
          <a:lstStyle/>
          <a:p>
            <a:pPr algn="ctr">
              <a:lnSpc>
                <a:spcPct val="100000"/>
              </a:lnSpc>
            </a:pPr>
            <a:r>
              <a:rPr lang="en-IN" sz="1200" b="1" dirty="0">
                <a:latin typeface="Amasis MT Pro Light" panose="02040304050005020304" pitchFamily="18" charset="0"/>
              </a:rPr>
              <a:t>Retrieval-Augmented Generation for Deep Movie Understanding</a:t>
            </a:r>
          </a:p>
          <a:p>
            <a:pPr>
              <a:lnSpc>
                <a:spcPct val="100000"/>
              </a:lnSpc>
            </a:pPr>
            <a:r>
              <a:rPr lang="en-US" sz="1200" b="1" dirty="0">
                <a:latin typeface="Amasis MT Pro Light" panose="02040304050005020304" pitchFamily="18" charset="0"/>
              </a:rPr>
              <a:t>          Team Members                  Natural Language Processing</a:t>
            </a:r>
          </a:p>
          <a:p>
            <a:pPr>
              <a:lnSpc>
                <a:spcPct val="100000"/>
              </a:lnSpc>
            </a:pPr>
            <a:r>
              <a:rPr lang="en-US" sz="1200" b="1" dirty="0">
                <a:latin typeface="Amasis MT Pro Light" panose="02040304050005020304" pitchFamily="18" charset="0"/>
              </a:rPr>
              <a:t>           Deepak Avinash                        Dr Khaled Sayed</a:t>
            </a:r>
          </a:p>
          <a:p>
            <a:pPr>
              <a:lnSpc>
                <a:spcPct val="100000"/>
              </a:lnSpc>
            </a:pPr>
            <a:r>
              <a:rPr lang="en-US" sz="1200" b="1" dirty="0">
                <a:latin typeface="Amasis MT Pro Light" panose="02040304050005020304" pitchFamily="18" charset="0"/>
              </a:rPr>
              <a:t>         Satish Kumar Jonna</a:t>
            </a:r>
          </a:p>
        </p:txBody>
      </p:sp>
    </p:spTree>
    <p:extLst>
      <p:ext uri="{BB962C8B-B14F-4D97-AF65-F5344CB8AC3E}">
        <p14:creationId xmlns:p14="http://schemas.microsoft.com/office/powerpoint/2010/main" val="114736001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AB3AFDA3-CFA2-47A7-456C-E1247B9BA9EA}"/>
              </a:ext>
            </a:extLst>
          </p:cNvPr>
          <p:cNvSpPr/>
          <p:nvPr/>
        </p:nvSpPr>
        <p:spPr>
          <a:xfrm>
            <a:off x="3268980" y="121676"/>
            <a:ext cx="5654040" cy="784957"/>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dirty="0">
                <a:solidFill>
                  <a:schemeClr val="tx1"/>
                </a:solidFill>
                <a:latin typeface="Amasis MT Pro Light" panose="02040304050005020304" pitchFamily="18" charset="0"/>
              </a:rPr>
              <a:t>PROJECT TOPIC &amp; DOMAIN</a:t>
            </a:r>
          </a:p>
        </p:txBody>
      </p:sp>
      <p:sp>
        <p:nvSpPr>
          <p:cNvPr id="3" name="Rectangle: Rounded Corners 2">
            <a:extLst>
              <a:ext uri="{FF2B5EF4-FFF2-40B4-BE49-F238E27FC236}">
                <a16:creationId xmlns:a16="http://schemas.microsoft.com/office/drawing/2014/main" id="{E1A977A3-CDE4-0ED9-8429-645F8A9C8008}"/>
              </a:ext>
            </a:extLst>
          </p:cNvPr>
          <p:cNvSpPr/>
          <p:nvPr/>
        </p:nvSpPr>
        <p:spPr>
          <a:xfrm>
            <a:off x="601980" y="1017798"/>
            <a:ext cx="7142428" cy="191109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90000"/>
              </a:lnSpc>
              <a:spcBef>
                <a:spcPts val="1000"/>
              </a:spcBef>
              <a:spcAft>
                <a:spcPts val="0"/>
              </a:spcAft>
              <a:buClrTx/>
              <a:buSzTx/>
              <a:tabLst/>
              <a:defRPr/>
            </a:pPr>
            <a:r>
              <a:rPr kumimoji="0" lang="en-IN" sz="1500" b="1" i="0" u="none" strike="noStrike" kern="1200" cap="none" spc="0" normalizeH="0" baseline="0" noProof="0" dirty="0">
                <a:ln>
                  <a:noFill/>
                </a:ln>
                <a:solidFill>
                  <a:prstClr val="black"/>
                </a:solidFill>
                <a:effectLst/>
                <a:uLnTx/>
                <a:uFillTx/>
                <a:latin typeface="Calibri" panose="020F0502020204030204"/>
                <a:ea typeface="+mn-ea"/>
                <a:cs typeface="+mn-cs"/>
              </a:rPr>
              <a:t>Project Topic:</a:t>
            </a:r>
          </a:p>
          <a:p>
            <a:pPr marL="228600" indent="-228600">
              <a:lnSpc>
                <a:spcPct val="90000"/>
              </a:lnSpc>
              <a:spcBef>
                <a:spcPts val="1000"/>
              </a:spcBef>
              <a:buFont typeface="Arial" panose="020B0604020202020204" pitchFamily="34" charset="0"/>
              <a:buChar char="•"/>
              <a:defRPr/>
            </a:pPr>
            <a:r>
              <a:rPr kumimoji="0" lang="en-IN" sz="1500" i="0" u="none" strike="noStrike" kern="1200" cap="none" spc="0" normalizeH="0" baseline="0" noProof="0" dirty="0">
                <a:ln>
                  <a:noFill/>
                </a:ln>
                <a:solidFill>
                  <a:prstClr val="black"/>
                </a:solidFill>
                <a:effectLst/>
                <a:uLnTx/>
                <a:uFillTx/>
                <a:latin typeface="Calibri" panose="020F0502020204030204"/>
              </a:rPr>
              <a:t>This project develops a Retrieval-Augmented Generation (RAG) system that answers questions about movies by understanding:</a:t>
            </a:r>
          </a:p>
          <a:p>
            <a:pPr marL="228600" indent="-228600">
              <a:lnSpc>
                <a:spcPct val="90000"/>
              </a:lnSpc>
              <a:spcBef>
                <a:spcPts val="1000"/>
              </a:spcBef>
              <a:buFont typeface="Arial" panose="020B0604020202020204" pitchFamily="34" charset="0"/>
              <a:buChar char="•"/>
              <a:defRPr/>
            </a:pPr>
            <a:r>
              <a:rPr kumimoji="0" lang="en-IN" sz="1500" i="0" u="none" strike="noStrike" kern="1200" cap="none" spc="0" normalizeH="0" baseline="0" noProof="0" dirty="0">
                <a:ln>
                  <a:noFill/>
                </a:ln>
                <a:solidFill>
                  <a:prstClr val="black"/>
                </a:solidFill>
                <a:effectLst/>
                <a:uLnTx/>
                <a:uFillTx/>
                <a:latin typeface="Calibri" panose="020F0502020204030204"/>
              </a:rPr>
              <a:t>Plot structure </a:t>
            </a:r>
          </a:p>
          <a:p>
            <a:pPr marL="228600" indent="-228600">
              <a:lnSpc>
                <a:spcPct val="90000"/>
              </a:lnSpc>
              <a:spcBef>
                <a:spcPts val="1000"/>
              </a:spcBef>
              <a:buFont typeface="Arial" panose="020B0604020202020204" pitchFamily="34" charset="0"/>
              <a:buChar char="•"/>
              <a:defRPr/>
            </a:pPr>
            <a:r>
              <a:rPr kumimoji="0" lang="en-IN" sz="1500" i="0" u="none" strike="noStrike" kern="1200" cap="none" spc="0" normalizeH="0" baseline="0" noProof="0" dirty="0">
                <a:ln>
                  <a:noFill/>
                </a:ln>
                <a:solidFill>
                  <a:prstClr val="black"/>
                </a:solidFill>
                <a:effectLst/>
                <a:uLnTx/>
                <a:uFillTx/>
                <a:latin typeface="Calibri" panose="020F0502020204030204"/>
              </a:rPr>
              <a:t>Character motivations </a:t>
            </a:r>
          </a:p>
          <a:p>
            <a:pPr marL="228600" indent="-228600">
              <a:lnSpc>
                <a:spcPct val="90000"/>
              </a:lnSpc>
              <a:spcBef>
                <a:spcPts val="1000"/>
              </a:spcBef>
              <a:buFont typeface="Arial" panose="020B0604020202020204" pitchFamily="34" charset="0"/>
              <a:buChar char="•"/>
              <a:defRPr/>
            </a:pPr>
            <a:r>
              <a:rPr kumimoji="0" lang="en-IN" sz="1500" i="0" u="none" strike="noStrike" kern="1200" cap="none" spc="0" normalizeH="0" baseline="0" noProof="0" dirty="0">
                <a:ln>
                  <a:noFill/>
                </a:ln>
                <a:solidFill>
                  <a:prstClr val="black"/>
                </a:solidFill>
                <a:effectLst/>
                <a:uLnTx/>
                <a:uFillTx/>
                <a:latin typeface="Calibri" panose="020F0502020204030204"/>
              </a:rPr>
              <a:t>Emotional depth </a:t>
            </a:r>
          </a:p>
        </p:txBody>
      </p:sp>
      <p:sp>
        <p:nvSpPr>
          <p:cNvPr id="4" name="Rectangle: Rounded Corners 3">
            <a:extLst>
              <a:ext uri="{FF2B5EF4-FFF2-40B4-BE49-F238E27FC236}">
                <a16:creationId xmlns:a16="http://schemas.microsoft.com/office/drawing/2014/main" id="{7FC289B7-0089-203B-92FB-D633A8005872}"/>
              </a:ext>
            </a:extLst>
          </p:cNvPr>
          <p:cNvSpPr/>
          <p:nvPr/>
        </p:nvSpPr>
        <p:spPr>
          <a:xfrm>
            <a:off x="671322" y="3083850"/>
            <a:ext cx="7073086" cy="167344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90000"/>
              </a:lnSpc>
              <a:spcBef>
                <a:spcPts val="1000"/>
              </a:spcBef>
              <a:spcAft>
                <a:spcPts val="0"/>
              </a:spcAft>
              <a:buClrTx/>
              <a:buSzTx/>
              <a:tabLst/>
              <a:defRPr/>
            </a:pPr>
            <a:r>
              <a:rPr kumimoji="0" lang="en-IN" sz="1500" b="1" i="0" u="none" strike="noStrike" kern="1200" cap="none" spc="0" normalizeH="0" baseline="0" noProof="0" dirty="0">
                <a:ln>
                  <a:noFill/>
                </a:ln>
                <a:solidFill>
                  <a:prstClr val="black"/>
                </a:solidFill>
                <a:effectLst/>
                <a:uLnTx/>
                <a:uFillTx/>
                <a:latin typeface="Calibri" panose="020F0502020204030204"/>
                <a:ea typeface="+mn-ea"/>
                <a:cs typeface="+mn-cs"/>
              </a:rPr>
              <a:t>Domain / Corpus: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1500" b="0" i="0" u="none" strike="noStrike" kern="1200" cap="none" spc="0" normalizeH="0" baseline="0" noProof="0" dirty="0">
                <a:ln>
                  <a:noFill/>
                </a:ln>
                <a:solidFill>
                  <a:prstClr val="black"/>
                </a:solidFill>
                <a:effectLst/>
                <a:uLnTx/>
                <a:uFillTx/>
                <a:latin typeface="Calibri" panose="020F0502020204030204"/>
                <a:ea typeface="+mn-ea"/>
                <a:cs typeface="+mn-cs"/>
              </a:rPr>
              <a:t>Movie plot summaries (Wikipedia / IMDb)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1500" b="0" i="0" u="none" strike="noStrike" kern="1200" cap="none" spc="0" normalizeH="0" baseline="0" noProof="0" dirty="0">
                <a:ln>
                  <a:noFill/>
                </a:ln>
                <a:solidFill>
                  <a:prstClr val="black"/>
                </a:solidFill>
                <a:effectLst/>
                <a:uLnTx/>
                <a:uFillTx/>
                <a:latin typeface="Calibri" panose="020F0502020204030204"/>
                <a:ea typeface="+mn-ea"/>
                <a:cs typeface="+mn-cs"/>
              </a:rPr>
              <a:t>Movie scripts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1500" b="0" i="0" u="none" strike="noStrike" kern="1200" cap="none" spc="0" normalizeH="0" baseline="0" noProof="0" dirty="0">
                <a:ln>
                  <a:noFill/>
                </a:ln>
                <a:solidFill>
                  <a:prstClr val="black"/>
                </a:solidFill>
                <a:effectLst/>
                <a:uLnTx/>
                <a:uFillTx/>
                <a:latin typeface="Calibri" panose="020F0502020204030204"/>
                <a:ea typeface="+mn-ea"/>
                <a:cs typeface="+mn-cs"/>
              </a:rPr>
              <a:t>Character descriptions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1500" b="0" i="0" u="none" strike="noStrike" kern="1200" cap="none" spc="0" normalizeH="0" baseline="0" noProof="0" dirty="0">
                <a:ln>
                  <a:noFill/>
                </a:ln>
                <a:solidFill>
                  <a:prstClr val="black"/>
                </a:solidFill>
                <a:effectLst/>
                <a:uLnTx/>
                <a:uFillTx/>
                <a:latin typeface="Calibri" panose="020F0502020204030204"/>
                <a:ea typeface="+mn-ea"/>
                <a:cs typeface="+mn-cs"/>
              </a:rPr>
              <a:t>Dialogue datasets </a:t>
            </a:r>
          </a:p>
        </p:txBody>
      </p:sp>
      <p:sp>
        <p:nvSpPr>
          <p:cNvPr id="6" name="Rectangle: Rounded Corners 5">
            <a:extLst>
              <a:ext uri="{FF2B5EF4-FFF2-40B4-BE49-F238E27FC236}">
                <a16:creationId xmlns:a16="http://schemas.microsoft.com/office/drawing/2014/main" id="{532DA9EE-ADD4-64AA-7967-1E50F049F497}"/>
              </a:ext>
            </a:extLst>
          </p:cNvPr>
          <p:cNvSpPr/>
          <p:nvPr/>
        </p:nvSpPr>
        <p:spPr>
          <a:xfrm>
            <a:off x="648181" y="4949607"/>
            <a:ext cx="7096227" cy="167344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90000"/>
              </a:lnSpc>
              <a:spcBef>
                <a:spcPts val="1000"/>
              </a:spcBef>
              <a:spcAft>
                <a:spcPts val="0"/>
              </a:spcAft>
              <a:buClrTx/>
              <a:buSzTx/>
              <a:tabLst/>
              <a:defRPr/>
            </a:pPr>
            <a:r>
              <a:rPr kumimoji="0" lang="en-IN" sz="1500" b="1" i="0" u="none" strike="noStrike" kern="1200" cap="none" spc="0" normalizeH="0" baseline="0" noProof="0" dirty="0">
                <a:ln>
                  <a:noFill/>
                </a:ln>
                <a:solidFill>
                  <a:prstClr val="black"/>
                </a:solidFill>
                <a:effectLst/>
                <a:uLnTx/>
                <a:uFillTx/>
                <a:latin typeface="Calibri" panose="020F0502020204030204"/>
                <a:ea typeface="+mn-ea"/>
                <a:cs typeface="+mn-cs"/>
              </a:rPr>
              <a:t>Example Queries: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1500" b="0" i="1" u="none" strike="noStrike" kern="1200" cap="none" spc="0" normalizeH="0" baseline="0" noProof="0" dirty="0">
                <a:ln>
                  <a:noFill/>
                </a:ln>
                <a:solidFill>
                  <a:prstClr val="black"/>
                </a:solidFill>
                <a:effectLst/>
                <a:uLnTx/>
                <a:uFillTx/>
                <a:latin typeface="Calibri" panose="020F0502020204030204"/>
                <a:ea typeface="+mn-ea"/>
                <a:cs typeface="+mn-cs"/>
              </a:rPr>
              <a:t>Why did Joker become violent?</a:t>
            </a:r>
            <a:r>
              <a:rPr kumimoji="0" lang="en-IN" sz="15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1500" b="0" i="1" u="none" strike="noStrike" kern="1200" cap="none" spc="0" normalizeH="0" baseline="0" noProof="0" dirty="0">
                <a:ln>
                  <a:noFill/>
                </a:ln>
                <a:solidFill>
                  <a:prstClr val="black"/>
                </a:solidFill>
                <a:effectLst/>
                <a:uLnTx/>
                <a:uFillTx/>
                <a:latin typeface="Calibri" panose="020F0502020204030204"/>
                <a:ea typeface="+mn-ea"/>
                <a:cs typeface="+mn-cs"/>
              </a:rPr>
              <a:t>What motivates Tony Stark?</a:t>
            </a:r>
            <a:r>
              <a:rPr kumimoji="0" lang="en-IN" sz="15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1500" b="0" i="1" u="none" strike="noStrike" kern="1200" cap="none" spc="0" normalizeH="0" baseline="0" noProof="0" dirty="0">
                <a:ln>
                  <a:noFill/>
                </a:ln>
                <a:solidFill>
                  <a:prstClr val="black"/>
                </a:solidFill>
                <a:effectLst/>
                <a:uLnTx/>
                <a:uFillTx/>
                <a:latin typeface="Calibri" panose="020F0502020204030204"/>
                <a:ea typeface="+mn-ea"/>
                <a:cs typeface="+mn-cs"/>
              </a:rPr>
              <a:t>Explain the theme of Interstellar</a:t>
            </a:r>
            <a:endParaRPr kumimoji="0" lang="en-IN"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26" name="Picture 2" descr="Building RAG Systems with Open-Source and Custom AI Models">
            <a:extLst>
              <a:ext uri="{FF2B5EF4-FFF2-40B4-BE49-F238E27FC236}">
                <a16:creationId xmlns:a16="http://schemas.microsoft.com/office/drawing/2014/main" id="{CFDCFF88-AF7C-8C2F-72BE-85204E52C2A4}"/>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8309547" y="1213634"/>
            <a:ext cx="3211893" cy="1519423"/>
          </a:xfrm>
          <a:prstGeom prst="rect">
            <a:avLst/>
          </a:prstGeom>
          <a:noFill/>
          <a:extLst>
            <a:ext uri="{909E8E84-426E-40DD-AFC4-6F175D3DCCD1}">
              <a14:hiddenFill xmlns:a14="http://schemas.microsoft.com/office/drawing/2010/main">
                <a:solidFill>
                  <a:srgbClr val="FFFFFF"/>
                </a:solidFill>
              </a14:hiddenFill>
            </a:ext>
          </a:extLst>
        </p:spPr>
      </p:pic>
      <p:sp>
        <p:nvSpPr>
          <p:cNvPr id="11" name="AutoShape 6" descr="How to create a Wikipedia article">
            <a:extLst>
              <a:ext uri="{FF2B5EF4-FFF2-40B4-BE49-F238E27FC236}">
                <a16:creationId xmlns:a16="http://schemas.microsoft.com/office/drawing/2014/main" id="{96E6FDAB-2E39-4DA9-2DAF-DDB56E7081D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 name="Picture 13">
            <a:extLst>
              <a:ext uri="{FF2B5EF4-FFF2-40B4-BE49-F238E27FC236}">
                <a16:creationId xmlns:a16="http://schemas.microsoft.com/office/drawing/2014/main" id="{2691DBF5-91F7-78FA-749F-79777D2CC141}"/>
              </a:ext>
            </a:extLst>
          </p:cNvPr>
          <p:cNvPicPr>
            <a:picLocks noChangeAspect="1"/>
          </p:cNvPicPr>
          <p:nvPr/>
        </p:nvPicPr>
        <p:blipFill>
          <a:blip r:embed="rId3"/>
          <a:stretch>
            <a:fillRect/>
          </a:stretch>
        </p:blipFill>
        <p:spPr>
          <a:xfrm>
            <a:off x="8528024" y="3114955"/>
            <a:ext cx="2816912" cy="1584056"/>
          </a:xfrm>
          <a:prstGeom prst="rect">
            <a:avLst/>
          </a:prstGeom>
        </p:spPr>
      </p:pic>
      <p:pic>
        <p:nvPicPr>
          <p:cNvPr id="1036" name="Picture 12" descr="Joker Review">
            <a:extLst>
              <a:ext uri="{FF2B5EF4-FFF2-40B4-BE49-F238E27FC236}">
                <a16:creationId xmlns:a16="http://schemas.microsoft.com/office/drawing/2014/main" id="{497150F8-F693-AFB0-81B1-DA71D54D62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4128" y="5080909"/>
            <a:ext cx="2584704" cy="1453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890196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DF163-31E9-233D-FEFF-0AF70B3DBB0B}"/>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FFD4C331-8C3B-EACE-4E6B-3C1103315E37}"/>
              </a:ext>
            </a:extLst>
          </p:cNvPr>
          <p:cNvSpPr/>
          <p:nvPr/>
        </p:nvSpPr>
        <p:spPr>
          <a:xfrm>
            <a:off x="3268980" y="460055"/>
            <a:ext cx="5654040" cy="70123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000" dirty="0">
                <a:solidFill>
                  <a:schemeClr val="tx1"/>
                </a:solidFill>
                <a:latin typeface="Amasis MT Pro Light" panose="02040304050005020304" pitchFamily="18" charset="0"/>
              </a:rPr>
              <a:t>Problem Statement</a:t>
            </a:r>
          </a:p>
        </p:txBody>
      </p:sp>
      <p:sp>
        <p:nvSpPr>
          <p:cNvPr id="8" name="Rectangle: Rounded Corners 7">
            <a:extLst>
              <a:ext uri="{FF2B5EF4-FFF2-40B4-BE49-F238E27FC236}">
                <a16:creationId xmlns:a16="http://schemas.microsoft.com/office/drawing/2014/main" id="{3CABE40A-2C05-FD67-4D04-5772533E7E48}"/>
              </a:ext>
            </a:extLst>
          </p:cNvPr>
          <p:cNvSpPr/>
          <p:nvPr/>
        </p:nvSpPr>
        <p:spPr>
          <a:xfrm>
            <a:off x="1581912" y="1280160"/>
            <a:ext cx="4014216" cy="162763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90000"/>
              </a:lnSpc>
              <a:spcBef>
                <a:spcPts val="1000"/>
              </a:spcBef>
              <a:spcAft>
                <a:spcPts val="0"/>
              </a:spcAft>
              <a:buClrTx/>
              <a:buSzTx/>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Movies are narratively rich filled with layered characters, psychological arcs, and complex themes. Standard language models struggle here in critical ways:</a:t>
            </a:r>
            <a:endParaRPr kumimoji="0" lang="en-IN" i="0" u="none" strike="noStrike" kern="1200" cap="none" spc="0" normalizeH="0" baseline="0" noProof="0" dirty="0">
              <a:ln>
                <a:noFill/>
              </a:ln>
              <a:solidFill>
                <a:prstClr val="black"/>
              </a:solidFill>
              <a:effectLst/>
              <a:uLnTx/>
              <a:uFillTx/>
              <a:latin typeface="Amasis MT Pro Light" panose="02040304050005020304" pitchFamily="18" charset="0"/>
            </a:endParaRPr>
          </a:p>
        </p:txBody>
      </p:sp>
      <p:sp>
        <p:nvSpPr>
          <p:cNvPr id="9" name="Rectangle: Rounded Corners 8">
            <a:extLst>
              <a:ext uri="{FF2B5EF4-FFF2-40B4-BE49-F238E27FC236}">
                <a16:creationId xmlns:a16="http://schemas.microsoft.com/office/drawing/2014/main" id="{8EEB0D90-8992-889C-30BD-BBF702239D7A}"/>
              </a:ext>
            </a:extLst>
          </p:cNvPr>
          <p:cNvSpPr/>
          <p:nvPr/>
        </p:nvSpPr>
        <p:spPr>
          <a:xfrm>
            <a:off x="2136648" y="3090672"/>
            <a:ext cx="2174748" cy="32186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90000"/>
              </a:lnSpc>
              <a:spcBef>
                <a:spcPts val="1000"/>
              </a:spcBef>
              <a:spcAft>
                <a:spcPts val="0"/>
              </a:spcAft>
              <a:buClrTx/>
              <a:buSzTx/>
              <a:tabLst/>
              <a:defRPr/>
            </a:pPr>
            <a:r>
              <a:rPr kumimoji="0" lang="en-US" b="1" i="0" u="none" strike="noStrike" kern="1200" cap="none" spc="0" normalizeH="0" baseline="0" noProof="0" dirty="0">
                <a:ln>
                  <a:noFill/>
                </a:ln>
                <a:solidFill>
                  <a:prstClr val="black"/>
                </a:solidFill>
                <a:effectLst/>
                <a:uLnTx/>
                <a:uFillTx/>
                <a:latin typeface="Amasis MT Pro Light" panose="02040304050005020304" pitchFamily="18" charset="0"/>
              </a:rPr>
              <a:t>Hallucination</a:t>
            </a:r>
          </a:p>
          <a:p>
            <a:pPr marR="0" lvl="0" algn="ctr" defTabSz="914400" rtl="0" eaLnBrk="1" fontAlgn="auto" latinLnBrk="0" hangingPunct="1">
              <a:lnSpc>
                <a:spcPct val="90000"/>
              </a:lnSpc>
              <a:spcBef>
                <a:spcPts val="1000"/>
              </a:spcBef>
              <a:spcAft>
                <a:spcPts val="0"/>
              </a:spcAft>
              <a:buClrTx/>
              <a:buSzTx/>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Models fabricate plot details and character motivations rather than grounding answers in real content.</a:t>
            </a:r>
          </a:p>
        </p:txBody>
      </p:sp>
      <p:sp>
        <p:nvSpPr>
          <p:cNvPr id="2" name="Rectangle: Rounded Corners 1">
            <a:extLst>
              <a:ext uri="{FF2B5EF4-FFF2-40B4-BE49-F238E27FC236}">
                <a16:creationId xmlns:a16="http://schemas.microsoft.com/office/drawing/2014/main" id="{6194B386-19C7-519E-CA46-697BC2EEE6BC}"/>
              </a:ext>
            </a:extLst>
          </p:cNvPr>
          <p:cNvSpPr/>
          <p:nvPr/>
        </p:nvSpPr>
        <p:spPr>
          <a:xfrm>
            <a:off x="6019800" y="1280160"/>
            <a:ext cx="4014216" cy="162763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90000"/>
              </a:lnSpc>
              <a:spcBef>
                <a:spcPts val="1000"/>
              </a:spcBef>
              <a:spcAft>
                <a:spcPts val="0"/>
              </a:spcAft>
              <a:buClrTx/>
              <a:buSzTx/>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Without grounding in real movie data, even powerful LLMs produce confidently wrong answers about character motivations and story events.</a:t>
            </a:r>
            <a:endParaRPr kumimoji="0" lang="en-IN" i="0" u="none" strike="noStrike" kern="1200" cap="none" spc="0" normalizeH="0" baseline="0" noProof="0" dirty="0">
              <a:ln>
                <a:noFill/>
              </a:ln>
              <a:solidFill>
                <a:prstClr val="black"/>
              </a:solidFill>
              <a:effectLst/>
              <a:uLnTx/>
              <a:uFillTx/>
              <a:latin typeface="Amasis MT Pro Light" panose="02040304050005020304" pitchFamily="18" charset="0"/>
            </a:endParaRPr>
          </a:p>
        </p:txBody>
      </p:sp>
      <p:sp>
        <p:nvSpPr>
          <p:cNvPr id="3" name="Rectangle: Rounded Corners 2">
            <a:extLst>
              <a:ext uri="{FF2B5EF4-FFF2-40B4-BE49-F238E27FC236}">
                <a16:creationId xmlns:a16="http://schemas.microsoft.com/office/drawing/2014/main" id="{4649DB98-726D-D304-78F0-D223392DFA98}"/>
              </a:ext>
            </a:extLst>
          </p:cNvPr>
          <p:cNvSpPr/>
          <p:nvPr/>
        </p:nvSpPr>
        <p:spPr>
          <a:xfrm>
            <a:off x="4660011" y="3179257"/>
            <a:ext cx="2174748" cy="32186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90000"/>
              </a:lnSpc>
              <a:spcBef>
                <a:spcPts val="1000"/>
              </a:spcBef>
              <a:spcAft>
                <a:spcPts val="0"/>
              </a:spcAft>
              <a:buClrTx/>
              <a:buSzTx/>
              <a:tabLst/>
              <a:defRPr/>
            </a:pPr>
            <a:r>
              <a:rPr kumimoji="0" lang="en-US" b="1" i="0" u="none" strike="noStrike" kern="1200" cap="none" spc="0" normalizeH="0" baseline="0" noProof="0" dirty="0">
                <a:ln>
                  <a:noFill/>
                </a:ln>
                <a:solidFill>
                  <a:prstClr val="black"/>
                </a:solidFill>
                <a:effectLst/>
                <a:uLnTx/>
                <a:uFillTx/>
                <a:latin typeface="Amasis MT Pro Light" panose="02040304050005020304" pitchFamily="18" charset="0"/>
              </a:rPr>
              <a:t>Shallow Emotion Modeling</a:t>
            </a:r>
          </a:p>
          <a:p>
            <a:pPr marR="0" lvl="0" algn="ctr" defTabSz="914400" rtl="0" eaLnBrk="1" fontAlgn="auto" latinLnBrk="0" hangingPunct="1">
              <a:lnSpc>
                <a:spcPct val="90000"/>
              </a:lnSpc>
              <a:spcBef>
                <a:spcPts val="1000"/>
              </a:spcBef>
              <a:spcAft>
                <a:spcPts val="0"/>
              </a:spcAft>
              <a:buClrTx/>
              <a:buSzTx/>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Generic training data fails to capture nuanced character emotions and psychological depth.</a:t>
            </a:r>
          </a:p>
        </p:txBody>
      </p:sp>
      <p:sp>
        <p:nvSpPr>
          <p:cNvPr id="4" name="Rectangle: Rounded Corners 3">
            <a:extLst>
              <a:ext uri="{FF2B5EF4-FFF2-40B4-BE49-F238E27FC236}">
                <a16:creationId xmlns:a16="http://schemas.microsoft.com/office/drawing/2014/main" id="{8AE29E17-9309-E9F8-15F2-C5FFDB12FDBC}"/>
              </a:ext>
            </a:extLst>
          </p:cNvPr>
          <p:cNvSpPr/>
          <p:nvPr/>
        </p:nvSpPr>
        <p:spPr>
          <a:xfrm>
            <a:off x="7183374" y="3090672"/>
            <a:ext cx="2174748" cy="32186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90000"/>
              </a:lnSpc>
              <a:spcBef>
                <a:spcPts val="1000"/>
              </a:spcBef>
              <a:spcAft>
                <a:spcPts val="0"/>
              </a:spcAft>
              <a:buClrTx/>
              <a:buSzTx/>
              <a:tabLst/>
              <a:defRPr/>
            </a:pPr>
            <a:r>
              <a:rPr kumimoji="0" lang="en-US" b="1" i="0" u="none" strike="noStrike" kern="1200" cap="none" spc="0" normalizeH="0" baseline="0" noProof="0" dirty="0">
                <a:ln>
                  <a:noFill/>
                </a:ln>
                <a:solidFill>
                  <a:prstClr val="black"/>
                </a:solidFill>
                <a:effectLst/>
                <a:uLnTx/>
                <a:uFillTx/>
                <a:latin typeface="Amasis MT Pro Light" panose="02040304050005020304" pitchFamily="18" charset="0"/>
              </a:rPr>
              <a:t>No Source Grounding</a:t>
            </a:r>
          </a:p>
          <a:p>
            <a:pPr marR="0" lvl="0" algn="ctr" defTabSz="914400" rtl="0" eaLnBrk="1" fontAlgn="auto" latinLnBrk="0" hangingPunct="1">
              <a:lnSpc>
                <a:spcPct val="90000"/>
              </a:lnSpc>
              <a:spcBef>
                <a:spcPts val="1000"/>
              </a:spcBef>
              <a:spcAft>
                <a:spcPts val="0"/>
              </a:spcAft>
              <a:buClrTx/>
              <a:buSzTx/>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Responses are educated guesses not retrieved from actual plot data, scripts, or analysis.</a:t>
            </a:r>
          </a:p>
        </p:txBody>
      </p:sp>
    </p:spTree>
    <p:extLst>
      <p:ext uri="{BB962C8B-B14F-4D97-AF65-F5344CB8AC3E}">
        <p14:creationId xmlns:p14="http://schemas.microsoft.com/office/powerpoint/2010/main" val="196056656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1C36A-77FC-57D5-8B5D-443FC2959C7A}"/>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FD9A9557-973A-D2F1-A076-8D8622A0FEBC}"/>
              </a:ext>
            </a:extLst>
          </p:cNvPr>
          <p:cNvSpPr/>
          <p:nvPr/>
        </p:nvSpPr>
        <p:spPr>
          <a:xfrm>
            <a:off x="1807461" y="1068366"/>
            <a:ext cx="8577072" cy="70123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000" dirty="0">
                <a:solidFill>
                  <a:schemeClr val="tx1"/>
                </a:solidFill>
                <a:latin typeface="Amasis MT Pro Light" panose="02040304050005020304" pitchFamily="18" charset="0"/>
              </a:rPr>
              <a:t>Our Solution : Rag-Powered Movie Intelligence</a:t>
            </a:r>
          </a:p>
        </p:txBody>
      </p:sp>
      <p:sp>
        <p:nvSpPr>
          <p:cNvPr id="9" name="Rectangle: Rounded Corners 8">
            <a:extLst>
              <a:ext uri="{FF2B5EF4-FFF2-40B4-BE49-F238E27FC236}">
                <a16:creationId xmlns:a16="http://schemas.microsoft.com/office/drawing/2014/main" id="{4A590F73-EB49-F196-179F-9AAF64718B2C}"/>
              </a:ext>
            </a:extLst>
          </p:cNvPr>
          <p:cNvSpPr/>
          <p:nvPr/>
        </p:nvSpPr>
        <p:spPr>
          <a:xfrm>
            <a:off x="1313684" y="3182112"/>
            <a:ext cx="2965704" cy="213055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90000"/>
              </a:lnSpc>
              <a:spcBef>
                <a:spcPts val="1000"/>
              </a:spcBef>
              <a:spcAft>
                <a:spcPts val="0"/>
              </a:spcAft>
              <a:buClrTx/>
              <a:buSzTx/>
              <a:tabLst/>
              <a:defRPr/>
            </a:pPr>
            <a:r>
              <a:rPr kumimoji="0" lang="en-US" b="1" i="0" u="none" strike="noStrike" kern="1200" cap="none" spc="0" normalizeH="0" baseline="0" noProof="0" dirty="0">
                <a:ln>
                  <a:noFill/>
                </a:ln>
                <a:solidFill>
                  <a:prstClr val="black"/>
                </a:solidFill>
                <a:effectLst/>
                <a:uLnTx/>
                <a:uFillTx/>
                <a:latin typeface="Amasis MT Pro Light" panose="02040304050005020304" pitchFamily="18" charset="0"/>
              </a:rPr>
              <a:t>Retrieve</a:t>
            </a:r>
          </a:p>
          <a:p>
            <a:pPr marR="0" lvl="0" algn="ctr" defTabSz="914400" rtl="0" eaLnBrk="1" fontAlgn="auto" latinLnBrk="0" hangingPunct="1">
              <a:lnSpc>
                <a:spcPct val="90000"/>
              </a:lnSpc>
              <a:spcBef>
                <a:spcPts val="1000"/>
              </a:spcBef>
              <a:spcAft>
                <a:spcPts val="0"/>
              </a:spcAft>
              <a:buClrTx/>
              <a:buSzTx/>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Pull relevant plot summaries, character data, and thematic analysis from a vector database.</a:t>
            </a:r>
          </a:p>
        </p:txBody>
      </p:sp>
      <p:sp>
        <p:nvSpPr>
          <p:cNvPr id="2" name="TextBox 1">
            <a:extLst>
              <a:ext uri="{FF2B5EF4-FFF2-40B4-BE49-F238E27FC236}">
                <a16:creationId xmlns:a16="http://schemas.microsoft.com/office/drawing/2014/main" id="{1487A7BD-CBBB-F985-4A72-6ACC75F8055E}"/>
              </a:ext>
            </a:extLst>
          </p:cNvPr>
          <p:cNvSpPr txBox="1"/>
          <p:nvPr/>
        </p:nvSpPr>
        <p:spPr>
          <a:xfrm>
            <a:off x="987682" y="2114831"/>
            <a:ext cx="10216631" cy="646331"/>
          </a:xfrm>
          <a:prstGeom prst="rect">
            <a:avLst/>
          </a:prstGeom>
          <a:noFill/>
        </p:spPr>
        <p:txBody>
          <a:bodyPr wrap="square" rtlCol="0">
            <a:spAutoFit/>
          </a:bodyPr>
          <a:lstStyle/>
          <a:p>
            <a:r>
              <a:rPr lang="en-US" dirty="0">
                <a:latin typeface="Amasis MT Pro Light" panose="02040304050005020304" pitchFamily="18" charset="0"/>
              </a:rPr>
              <a:t>By combining retrieval with generation, our system fetches relevant movie knowledge before answering  producing accurate, context-aware, and deeply reasoned responses.</a:t>
            </a:r>
          </a:p>
        </p:txBody>
      </p:sp>
      <p:sp>
        <p:nvSpPr>
          <p:cNvPr id="3" name="Rectangle: Rounded Corners 2">
            <a:extLst>
              <a:ext uri="{FF2B5EF4-FFF2-40B4-BE49-F238E27FC236}">
                <a16:creationId xmlns:a16="http://schemas.microsoft.com/office/drawing/2014/main" id="{4528686A-931D-0147-C4A7-A9C9F8BE1BED}"/>
              </a:ext>
            </a:extLst>
          </p:cNvPr>
          <p:cNvSpPr/>
          <p:nvPr/>
        </p:nvSpPr>
        <p:spPr>
          <a:xfrm>
            <a:off x="4613146" y="3182112"/>
            <a:ext cx="2965704" cy="213055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90000"/>
              </a:lnSpc>
              <a:spcBef>
                <a:spcPts val="1000"/>
              </a:spcBef>
              <a:spcAft>
                <a:spcPts val="0"/>
              </a:spcAft>
              <a:buClrTx/>
              <a:buSzTx/>
              <a:tabLst/>
              <a:defRPr/>
            </a:pPr>
            <a:r>
              <a:rPr kumimoji="0" lang="en-US" b="1" i="0" u="none" strike="noStrike" kern="1200" cap="none" spc="0" normalizeH="0" baseline="0" noProof="0" dirty="0">
                <a:ln>
                  <a:noFill/>
                </a:ln>
                <a:solidFill>
                  <a:prstClr val="black"/>
                </a:solidFill>
                <a:effectLst/>
                <a:uLnTx/>
                <a:uFillTx/>
                <a:latin typeface="Amasis MT Pro Light" panose="02040304050005020304" pitchFamily="18" charset="0"/>
              </a:rPr>
              <a:t>Augment</a:t>
            </a:r>
          </a:p>
          <a:p>
            <a:pPr marR="0" lvl="0" algn="ctr" defTabSz="914400" rtl="0" eaLnBrk="1" fontAlgn="auto" latinLnBrk="0" hangingPunct="1">
              <a:lnSpc>
                <a:spcPct val="90000"/>
              </a:lnSpc>
              <a:spcBef>
                <a:spcPts val="1000"/>
              </a:spcBef>
              <a:spcAft>
                <a:spcPts val="0"/>
              </a:spcAft>
              <a:buClrTx/>
              <a:buSzTx/>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Enrich the LLM's context window with retrieved passages before generating a response.</a:t>
            </a:r>
          </a:p>
        </p:txBody>
      </p:sp>
      <p:sp>
        <p:nvSpPr>
          <p:cNvPr id="4" name="Rectangle: Rounded Corners 3">
            <a:extLst>
              <a:ext uri="{FF2B5EF4-FFF2-40B4-BE49-F238E27FC236}">
                <a16:creationId xmlns:a16="http://schemas.microsoft.com/office/drawing/2014/main" id="{24C02AB0-63F9-3392-E533-8E32DF137DAB}"/>
              </a:ext>
            </a:extLst>
          </p:cNvPr>
          <p:cNvSpPr/>
          <p:nvPr/>
        </p:nvSpPr>
        <p:spPr>
          <a:xfrm>
            <a:off x="7912608" y="3182112"/>
            <a:ext cx="2965704" cy="213055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90000"/>
              </a:lnSpc>
              <a:spcBef>
                <a:spcPts val="1000"/>
              </a:spcBef>
              <a:spcAft>
                <a:spcPts val="0"/>
              </a:spcAft>
              <a:buClrTx/>
              <a:buSzTx/>
              <a:tabLst/>
              <a:defRPr/>
            </a:pPr>
            <a:r>
              <a:rPr kumimoji="0" lang="en-US" b="1" i="0" u="none" strike="noStrike" kern="1200" cap="none" spc="0" normalizeH="0" baseline="0" noProof="0" dirty="0">
                <a:ln>
                  <a:noFill/>
                </a:ln>
                <a:solidFill>
                  <a:prstClr val="black"/>
                </a:solidFill>
                <a:effectLst/>
                <a:uLnTx/>
                <a:uFillTx/>
                <a:latin typeface="Amasis MT Pro Light" panose="02040304050005020304" pitchFamily="18" charset="0"/>
              </a:rPr>
              <a:t>Generate</a:t>
            </a:r>
          </a:p>
          <a:p>
            <a:pPr marR="0" lvl="0" algn="ctr" defTabSz="914400" rtl="0" eaLnBrk="1" fontAlgn="auto" latinLnBrk="0" hangingPunct="1">
              <a:lnSpc>
                <a:spcPct val="90000"/>
              </a:lnSpc>
              <a:spcBef>
                <a:spcPts val="1000"/>
              </a:spcBef>
              <a:spcAft>
                <a:spcPts val="0"/>
              </a:spcAft>
              <a:buClrTx/>
              <a:buSzTx/>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Produce accurate, grounded answers that reflect real movie content not hallucinated guesses.</a:t>
            </a:r>
          </a:p>
        </p:txBody>
      </p:sp>
      <p:cxnSp>
        <p:nvCxnSpPr>
          <p:cNvPr id="7" name="Straight Arrow Connector 6">
            <a:extLst>
              <a:ext uri="{FF2B5EF4-FFF2-40B4-BE49-F238E27FC236}">
                <a16:creationId xmlns:a16="http://schemas.microsoft.com/office/drawing/2014/main" id="{BD341D8A-8E52-33CC-47C8-6DDF2C92F8B8}"/>
              </a:ext>
            </a:extLst>
          </p:cNvPr>
          <p:cNvCxnSpPr>
            <a:stCxn id="9" idx="3"/>
            <a:endCxn id="3" idx="1"/>
          </p:cNvCxnSpPr>
          <p:nvPr/>
        </p:nvCxnSpPr>
        <p:spPr>
          <a:xfrm>
            <a:off x="4279388" y="4247388"/>
            <a:ext cx="3337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4A33D21-BC43-C7FA-9529-FB0F4FADEA73}"/>
              </a:ext>
            </a:extLst>
          </p:cNvPr>
          <p:cNvCxnSpPr>
            <a:stCxn id="3" idx="3"/>
            <a:endCxn id="4" idx="1"/>
          </p:cNvCxnSpPr>
          <p:nvPr/>
        </p:nvCxnSpPr>
        <p:spPr>
          <a:xfrm>
            <a:off x="7578850" y="4247388"/>
            <a:ext cx="3337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2112401"/>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F05FB-BD5B-59AD-EC83-1F7EECB495A7}"/>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08CA4E4A-0409-89A2-B8F1-9CFFBCA4B635}"/>
              </a:ext>
            </a:extLst>
          </p:cNvPr>
          <p:cNvSpPr/>
          <p:nvPr/>
        </p:nvSpPr>
        <p:spPr>
          <a:xfrm>
            <a:off x="3268980" y="460055"/>
            <a:ext cx="5654040" cy="70123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000" dirty="0">
                <a:solidFill>
                  <a:schemeClr val="tx1"/>
                </a:solidFill>
                <a:latin typeface="Amasis MT Pro Light" panose="02040304050005020304" pitchFamily="18" charset="0"/>
              </a:rPr>
              <a:t>Dataset : 5 Iconic </a:t>
            </a:r>
            <a:r>
              <a:rPr lang="en-IN" sz="3000" dirty="0" err="1">
                <a:solidFill>
                  <a:schemeClr val="tx1"/>
                </a:solidFill>
                <a:latin typeface="Amasis MT Pro Light" panose="02040304050005020304" pitchFamily="18" charset="0"/>
              </a:rPr>
              <a:t>Flims</a:t>
            </a:r>
            <a:endParaRPr lang="en-IN" sz="3000" dirty="0">
              <a:solidFill>
                <a:schemeClr val="tx1"/>
              </a:solidFill>
              <a:latin typeface="Amasis MT Pro Light" panose="02040304050005020304" pitchFamily="18" charset="0"/>
            </a:endParaRPr>
          </a:p>
        </p:txBody>
      </p:sp>
      <p:sp>
        <p:nvSpPr>
          <p:cNvPr id="8" name="Rectangle: Rounded Corners 7">
            <a:extLst>
              <a:ext uri="{FF2B5EF4-FFF2-40B4-BE49-F238E27FC236}">
                <a16:creationId xmlns:a16="http://schemas.microsoft.com/office/drawing/2014/main" id="{79894763-ACC3-4314-C6F2-04D3D1DE9C9E}"/>
              </a:ext>
            </a:extLst>
          </p:cNvPr>
          <p:cNvSpPr/>
          <p:nvPr/>
        </p:nvSpPr>
        <p:spPr>
          <a:xfrm>
            <a:off x="1295400" y="1554480"/>
            <a:ext cx="9265920" cy="175564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90000"/>
              </a:lnSpc>
              <a:spcBef>
                <a:spcPts val="1000"/>
              </a:spcBef>
              <a:spcAft>
                <a:spcPts val="0"/>
              </a:spcAft>
              <a:buClrTx/>
              <a:buSzTx/>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We curated a rich, hand-assembled dataset across five narratively complex films, covering four data dimensions per </a:t>
            </a:r>
            <a:r>
              <a:rPr kumimoji="0" lang="en-US" i="0" u="none" strike="noStrike" kern="1200" cap="none" spc="0" normalizeH="0" baseline="0" noProof="0" dirty="0" err="1">
                <a:ln>
                  <a:noFill/>
                </a:ln>
                <a:solidFill>
                  <a:prstClr val="black"/>
                </a:solidFill>
                <a:effectLst/>
                <a:uLnTx/>
                <a:uFillTx/>
                <a:latin typeface="Amasis MT Pro Light" panose="02040304050005020304" pitchFamily="18" charset="0"/>
              </a:rPr>
              <a:t>movie:Each</a:t>
            </a: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 film is represented by plot summaries, character analyses, major themes, and key dialogues giving the system rich semantic material to retrieve from.</a:t>
            </a:r>
            <a:endParaRPr kumimoji="0" lang="en-IN" i="0" u="none" strike="noStrike" kern="1200" cap="none" spc="0" normalizeH="0" baseline="0" noProof="0" dirty="0">
              <a:ln>
                <a:noFill/>
              </a:ln>
              <a:solidFill>
                <a:prstClr val="black"/>
              </a:solidFill>
              <a:effectLst/>
              <a:uLnTx/>
              <a:uFillTx/>
              <a:latin typeface="Amasis MT Pro Light" panose="02040304050005020304" pitchFamily="18" charset="0"/>
            </a:endParaRPr>
          </a:p>
        </p:txBody>
      </p:sp>
      <p:sp>
        <p:nvSpPr>
          <p:cNvPr id="9" name="Rectangle: Rounded Corners 8">
            <a:extLst>
              <a:ext uri="{FF2B5EF4-FFF2-40B4-BE49-F238E27FC236}">
                <a16:creationId xmlns:a16="http://schemas.microsoft.com/office/drawing/2014/main" id="{5BF52BF7-30B1-CBCC-5C50-BB65FD04689C}"/>
              </a:ext>
            </a:extLst>
          </p:cNvPr>
          <p:cNvSpPr/>
          <p:nvPr/>
        </p:nvSpPr>
        <p:spPr>
          <a:xfrm>
            <a:off x="2721864" y="3822192"/>
            <a:ext cx="3020568" cy="213055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ctr"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The Dark Knight </a:t>
            </a:r>
          </a:p>
          <a:p>
            <a:pPr marL="285750" marR="0" lvl="0" indent="-285750" algn="ctr"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Joker </a:t>
            </a:r>
          </a:p>
          <a:p>
            <a:pPr marL="285750" marR="0" lvl="0" indent="-285750" algn="ctr"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Interstellar </a:t>
            </a:r>
          </a:p>
          <a:p>
            <a:pPr marL="285750" marR="0" lvl="0" indent="-285750" algn="ctr"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Iron Man </a:t>
            </a:r>
          </a:p>
          <a:p>
            <a:pPr marL="285750" marR="0" lvl="0" indent="-285750" algn="ctr"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Inception </a:t>
            </a:r>
          </a:p>
        </p:txBody>
      </p:sp>
      <p:sp>
        <p:nvSpPr>
          <p:cNvPr id="3" name="Rectangle 2">
            <a:extLst>
              <a:ext uri="{FF2B5EF4-FFF2-40B4-BE49-F238E27FC236}">
                <a16:creationId xmlns:a16="http://schemas.microsoft.com/office/drawing/2014/main" id="{4AF858D6-6744-334E-01F2-7B27A6D97052}"/>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597FDB93-8CE9-DE07-F930-A4B4430B133B}"/>
              </a:ext>
            </a:extLst>
          </p:cNvPr>
          <p:cNvPicPr>
            <a:picLocks noChangeAspect="1"/>
          </p:cNvPicPr>
          <p:nvPr/>
        </p:nvPicPr>
        <p:blipFill>
          <a:blip r:embed="rId2"/>
          <a:stretch>
            <a:fillRect/>
          </a:stretch>
        </p:blipFill>
        <p:spPr>
          <a:xfrm>
            <a:off x="6617208" y="3322513"/>
            <a:ext cx="3075432" cy="3075432"/>
          </a:xfrm>
          <a:prstGeom prst="rect">
            <a:avLst/>
          </a:prstGeom>
        </p:spPr>
      </p:pic>
    </p:spTree>
    <p:extLst>
      <p:ext uri="{BB962C8B-B14F-4D97-AF65-F5344CB8AC3E}">
        <p14:creationId xmlns:p14="http://schemas.microsoft.com/office/powerpoint/2010/main" val="1639829180"/>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62114-B053-1B3A-3CD0-9D43BA0AA6DA}"/>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064A717F-C2F0-B88A-1F91-8C90227D2531}"/>
              </a:ext>
            </a:extLst>
          </p:cNvPr>
          <p:cNvSpPr/>
          <p:nvPr/>
        </p:nvSpPr>
        <p:spPr>
          <a:xfrm>
            <a:off x="3268979" y="1150427"/>
            <a:ext cx="5654040" cy="70123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000" dirty="0">
                <a:solidFill>
                  <a:schemeClr val="tx1"/>
                </a:solidFill>
                <a:latin typeface="Amasis MT Pro Light" panose="02040304050005020304" pitchFamily="18" charset="0"/>
              </a:rPr>
              <a:t>Deep Reasoning Questions</a:t>
            </a:r>
          </a:p>
        </p:txBody>
      </p:sp>
      <p:sp>
        <p:nvSpPr>
          <p:cNvPr id="9" name="Rectangle: Rounded Corners 8">
            <a:extLst>
              <a:ext uri="{FF2B5EF4-FFF2-40B4-BE49-F238E27FC236}">
                <a16:creationId xmlns:a16="http://schemas.microsoft.com/office/drawing/2014/main" id="{EAB961B0-B84D-5853-8EDD-D8B77496C8E4}"/>
              </a:ext>
            </a:extLst>
          </p:cNvPr>
          <p:cNvSpPr/>
          <p:nvPr/>
        </p:nvSpPr>
        <p:spPr>
          <a:xfrm>
            <a:off x="1460156" y="3127248"/>
            <a:ext cx="2980812" cy="86868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90000"/>
              </a:lnSpc>
              <a:spcBef>
                <a:spcPts val="1000"/>
              </a:spcBef>
              <a:spcAft>
                <a:spcPts val="0"/>
              </a:spcAft>
              <a:buClrTx/>
              <a:buSzTx/>
              <a:tabLst/>
              <a:defRPr/>
            </a:pPr>
            <a:r>
              <a:rPr kumimoji="0" lang="en-US" b="1" i="1" u="none" strike="noStrike" kern="1200" cap="none" spc="0" normalizeH="0" baseline="0" noProof="0" dirty="0">
                <a:ln>
                  <a:noFill/>
                </a:ln>
                <a:solidFill>
                  <a:prstClr val="black"/>
                </a:solidFill>
                <a:effectLst/>
                <a:uLnTx/>
                <a:uFillTx/>
                <a:latin typeface="Amasis MT Pro Light" panose="02040304050005020304" pitchFamily="18" charset="0"/>
              </a:rPr>
              <a:t>Why did the Joker become a villain?</a:t>
            </a:r>
            <a:endParaRPr kumimoji="0" lang="en-US" i="1" u="none" strike="noStrike" kern="1200" cap="none" spc="0" normalizeH="0" baseline="0" noProof="0" dirty="0">
              <a:ln>
                <a:noFill/>
              </a:ln>
              <a:solidFill>
                <a:prstClr val="black"/>
              </a:solidFill>
              <a:effectLst/>
              <a:uLnTx/>
              <a:uFillTx/>
              <a:latin typeface="Amasis MT Pro Light" panose="02040304050005020304" pitchFamily="18" charset="0"/>
            </a:endParaRPr>
          </a:p>
        </p:txBody>
      </p:sp>
      <p:sp>
        <p:nvSpPr>
          <p:cNvPr id="2" name="TextBox 1">
            <a:extLst>
              <a:ext uri="{FF2B5EF4-FFF2-40B4-BE49-F238E27FC236}">
                <a16:creationId xmlns:a16="http://schemas.microsoft.com/office/drawing/2014/main" id="{DB5EF4D5-CDDE-7295-C6C3-E2ABFD105C6E}"/>
              </a:ext>
            </a:extLst>
          </p:cNvPr>
          <p:cNvSpPr txBox="1"/>
          <p:nvPr/>
        </p:nvSpPr>
        <p:spPr>
          <a:xfrm>
            <a:off x="1094559" y="2131999"/>
            <a:ext cx="10216631" cy="646331"/>
          </a:xfrm>
          <a:prstGeom prst="rect">
            <a:avLst/>
          </a:prstGeom>
          <a:noFill/>
        </p:spPr>
        <p:txBody>
          <a:bodyPr wrap="square" rtlCol="0">
            <a:spAutoFit/>
          </a:bodyPr>
          <a:lstStyle/>
          <a:p>
            <a:r>
              <a:rPr lang="en-US" dirty="0">
                <a:latin typeface="Amasis MT Pro Light" panose="02040304050005020304" pitchFamily="18" charset="0"/>
              </a:rPr>
              <a:t>The system is designed to answer questions that require psychological insight and narrative understanding, not simple fact lookup.</a:t>
            </a:r>
          </a:p>
        </p:txBody>
      </p:sp>
      <p:sp>
        <p:nvSpPr>
          <p:cNvPr id="6" name="Rectangle: Rounded Corners 5">
            <a:extLst>
              <a:ext uri="{FF2B5EF4-FFF2-40B4-BE49-F238E27FC236}">
                <a16:creationId xmlns:a16="http://schemas.microsoft.com/office/drawing/2014/main" id="{7C713B68-766F-DD26-D4D4-95D6ED0B3655}"/>
              </a:ext>
            </a:extLst>
          </p:cNvPr>
          <p:cNvSpPr/>
          <p:nvPr/>
        </p:nvSpPr>
        <p:spPr>
          <a:xfrm>
            <a:off x="4605593" y="3127248"/>
            <a:ext cx="2980812" cy="86868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90000"/>
              </a:lnSpc>
              <a:spcBef>
                <a:spcPts val="1000"/>
              </a:spcBef>
              <a:spcAft>
                <a:spcPts val="0"/>
              </a:spcAft>
              <a:buClrTx/>
              <a:buSzTx/>
              <a:tabLst/>
              <a:defRPr/>
            </a:pPr>
            <a:r>
              <a:rPr kumimoji="0" lang="en-US" b="1" i="1" u="none" strike="noStrike" kern="1200" cap="none" spc="0" normalizeH="0" baseline="0" noProof="0" dirty="0">
                <a:ln>
                  <a:noFill/>
                </a:ln>
                <a:solidFill>
                  <a:prstClr val="black"/>
                </a:solidFill>
                <a:effectLst/>
                <a:uLnTx/>
                <a:uFillTx/>
                <a:latin typeface="Amasis MT Pro Light" panose="02040304050005020304" pitchFamily="18" charset="0"/>
              </a:rPr>
              <a:t>What truly motivates Tony Stark?</a:t>
            </a:r>
            <a:endParaRPr kumimoji="0" lang="en-US" i="1" u="none" strike="noStrike" kern="1200" cap="none" spc="0" normalizeH="0" baseline="0" noProof="0" dirty="0">
              <a:ln>
                <a:noFill/>
              </a:ln>
              <a:solidFill>
                <a:prstClr val="black"/>
              </a:solidFill>
              <a:effectLst/>
              <a:uLnTx/>
              <a:uFillTx/>
              <a:latin typeface="Amasis MT Pro Light" panose="02040304050005020304" pitchFamily="18" charset="0"/>
            </a:endParaRPr>
          </a:p>
        </p:txBody>
      </p:sp>
      <p:sp>
        <p:nvSpPr>
          <p:cNvPr id="7" name="Rectangle: Rounded Corners 6">
            <a:extLst>
              <a:ext uri="{FF2B5EF4-FFF2-40B4-BE49-F238E27FC236}">
                <a16:creationId xmlns:a16="http://schemas.microsoft.com/office/drawing/2014/main" id="{79E76E10-D7BA-8131-C404-F94AD6840F43}"/>
              </a:ext>
            </a:extLst>
          </p:cNvPr>
          <p:cNvSpPr/>
          <p:nvPr/>
        </p:nvSpPr>
        <p:spPr>
          <a:xfrm>
            <a:off x="7751032" y="3127248"/>
            <a:ext cx="2980812" cy="86868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90000"/>
              </a:lnSpc>
              <a:spcBef>
                <a:spcPts val="1000"/>
              </a:spcBef>
              <a:spcAft>
                <a:spcPts val="0"/>
              </a:spcAft>
              <a:buClrTx/>
              <a:buSzTx/>
              <a:tabLst/>
              <a:defRPr/>
            </a:pPr>
            <a:r>
              <a:rPr kumimoji="0" lang="en-US" b="1" i="1" u="none" strike="noStrike" kern="1200" cap="none" spc="0" normalizeH="0" baseline="0" noProof="0" dirty="0">
                <a:ln>
                  <a:noFill/>
                </a:ln>
                <a:solidFill>
                  <a:prstClr val="black"/>
                </a:solidFill>
                <a:effectLst/>
                <a:uLnTx/>
                <a:uFillTx/>
                <a:latin typeface="Amasis MT Pro Light" panose="02040304050005020304" pitchFamily="18" charset="0"/>
              </a:rPr>
              <a:t>What is the central theme of Interstellar?</a:t>
            </a:r>
            <a:endParaRPr kumimoji="0" lang="en-US" i="1" u="none" strike="noStrike" kern="1200" cap="none" spc="0" normalizeH="0" baseline="0" noProof="0" dirty="0">
              <a:ln>
                <a:noFill/>
              </a:ln>
              <a:solidFill>
                <a:prstClr val="black"/>
              </a:solidFill>
              <a:effectLst/>
              <a:uLnTx/>
              <a:uFillTx/>
              <a:latin typeface="Amasis MT Pro Light" panose="02040304050005020304" pitchFamily="18" charset="0"/>
            </a:endParaRPr>
          </a:p>
        </p:txBody>
      </p:sp>
      <p:sp>
        <p:nvSpPr>
          <p:cNvPr id="10" name="Rectangle: Rounded Corners 9">
            <a:extLst>
              <a:ext uri="{FF2B5EF4-FFF2-40B4-BE49-F238E27FC236}">
                <a16:creationId xmlns:a16="http://schemas.microsoft.com/office/drawing/2014/main" id="{21F0109F-3610-33C1-B718-5504D7393000}"/>
              </a:ext>
            </a:extLst>
          </p:cNvPr>
          <p:cNvSpPr/>
          <p:nvPr/>
        </p:nvSpPr>
        <p:spPr>
          <a:xfrm>
            <a:off x="1517906" y="4276266"/>
            <a:ext cx="4471219" cy="86868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90000"/>
              </a:lnSpc>
              <a:spcBef>
                <a:spcPts val="1000"/>
              </a:spcBef>
              <a:spcAft>
                <a:spcPts val="0"/>
              </a:spcAft>
              <a:buClrTx/>
              <a:buSzTx/>
              <a:tabLst/>
              <a:defRPr/>
            </a:pPr>
            <a:r>
              <a:rPr kumimoji="0" lang="en-US" b="1" i="1" u="none" strike="noStrike" kern="1200" cap="none" spc="0" normalizeH="0" baseline="0" noProof="0" dirty="0">
                <a:ln>
                  <a:noFill/>
                </a:ln>
                <a:solidFill>
                  <a:prstClr val="black"/>
                </a:solidFill>
                <a:effectLst/>
                <a:uLnTx/>
                <a:uFillTx/>
                <a:latin typeface="Amasis MT Pro Light" panose="02040304050005020304" pitchFamily="18" charset="0"/>
              </a:rPr>
              <a:t>Why did Harvey Dent become Two-Face?</a:t>
            </a:r>
            <a:endParaRPr kumimoji="0" lang="en-US" i="1" u="none" strike="noStrike" kern="1200" cap="none" spc="0" normalizeH="0" baseline="0" noProof="0" dirty="0">
              <a:ln>
                <a:noFill/>
              </a:ln>
              <a:solidFill>
                <a:prstClr val="black"/>
              </a:solidFill>
              <a:effectLst/>
              <a:uLnTx/>
              <a:uFillTx/>
              <a:latin typeface="Amasis MT Pro Light" panose="02040304050005020304" pitchFamily="18" charset="0"/>
            </a:endParaRPr>
          </a:p>
        </p:txBody>
      </p:sp>
      <p:sp>
        <p:nvSpPr>
          <p:cNvPr id="11" name="Rectangle: Rounded Corners 10">
            <a:extLst>
              <a:ext uri="{FF2B5EF4-FFF2-40B4-BE49-F238E27FC236}">
                <a16:creationId xmlns:a16="http://schemas.microsoft.com/office/drawing/2014/main" id="{C5807E76-3697-A537-0473-45CD69548616}"/>
              </a:ext>
            </a:extLst>
          </p:cNvPr>
          <p:cNvSpPr/>
          <p:nvPr/>
        </p:nvSpPr>
        <p:spPr>
          <a:xfrm>
            <a:off x="6202875" y="4276266"/>
            <a:ext cx="4471219" cy="86868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90000"/>
              </a:lnSpc>
              <a:spcBef>
                <a:spcPts val="1000"/>
              </a:spcBef>
              <a:spcAft>
                <a:spcPts val="0"/>
              </a:spcAft>
              <a:buClrTx/>
              <a:buSzTx/>
              <a:tabLst/>
              <a:defRPr/>
            </a:pPr>
            <a:r>
              <a:rPr kumimoji="0" lang="en-US" b="1" i="1" u="none" strike="noStrike" kern="1200" cap="none" spc="0" normalizeH="0" baseline="0" noProof="0" dirty="0">
                <a:ln>
                  <a:noFill/>
                </a:ln>
                <a:solidFill>
                  <a:prstClr val="black"/>
                </a:solidFill>
                <a:effectLst/>
                <a:uLnTx/>
                <a:uFillTx/>
                <a:latin typeface="Amasis MT Pro Light" panose="02040304050005020304" pitchFamily="18" charset="0"/>
              </a:rPr>
              <a:t>How does guilt shape Cobb's perception of reality?</a:t>
            </a:r>
            <a:endParaRPr kumimoji="0" lang="en-US" i="1" u="none" strike="noStrike" kern="1200" cap="none" spc="0" normalizeH="0" baseline="0" noProof="0" dirty="0">
              <a:ln>
                <a:noFill/>
              </a:ln>
              <a:solidFill>
                <a:prstClr val="black"/>
              </a:solidFill>
              <a:effectLst/>
              <a:uLnTx/>
              <a:uFillTx/>
              <a:latin typeface="Amasis MT Pro Light" panose="02040304050005020304" pitchFamily="18" charset="0"/>
            </a:endParaRPr>
          </a:p>
        </p:txBody>
      </p:sp>
    </p:spTree>
    <p:extLst>
      <p:ext uri="{BB962C8B-B14F-4D97-AF65-F5344CB8AC3E}">
        <p14:creationId xmlns:p14="http://schemas.microsoft.com/office/powerpoint/2010/main" val="119463236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D88BE-1735-60A3-16E4-4DA206A9335D}"/>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72D238DD-01A7-53B3-D5EE-006091340B7F}"/>
              </a:ext>
            </a:extLst>
          </p:cNvPr>
          <p:cNvSpPr/>
          <p:nvPr/>
        </p:nvSpPr>
        <p:spPr>
          <a:xfrm>
            <a:off x="3268980" y="460055"/>
            <a:ext cx="5654040" cy="70123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000" dirty="0">
                <a:solidFill>
                  <a:schemeClr val="tx1"/>
                </a:solidFill>
                <a:latin typeface="Amasis MT Pro Light" panose="02040304050005020304" pitchFamily="18" charset="0"/>
              </a:rPr>
              <a:t>System Architecture</a:t>
            </a:r>
          </a:p>
        </p:txBody>
      </p:sp>
      <p:sp>
        <p:nvSpPr>
          <p:cNvPr id="9" name="Rectangle: Rounded Corners 8">
            <a:extLst>
              <a:ext uri="{FF2B5EF4-FFF2-40B4-BE49-F238E27FC236}">
                <a16:creationId xmlns:a16="http://schemas.microsoft.com/office/drawing/2014/main" id="{22B996A7-9439-7C24-1F33-12F4F6B97B86}"/>
              </a:ext>
            </a:extLst>
          </p:cNvPr>
          <p:cNvSpPr/>
          <p:nvPr/>
        </p:nvSpPr>
        <p:spPr>
          <a:xfrm>
            <a:off x="2456555" y="4428160"/>
            <a:ext cx="7491984" cy="213055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90000"/>
              </a:lnSpc>
              <a:spcBef>
                <a:spcPts val="1000"/>
              </a:spcBef>
              <a:spcAft>
                <a:spcPts val="0"/>
              </a:spcAft>
              <a:buClrTx/>
              <a:buSzTx/>
              <a:tabLst/>
              <a:defRPr/>
            </a:pPr>
            <a:r>
              <a:rPr kumimoji="0" lang="en-US" b="1" i="0" u="none" strike="noStrike" kern="1200" cap="none" spc="0" normalizeH="0" baseline="0" noProof="0" dirty="0">
                <a:ln>
                  <a:noFill/>
                </a:ln>
                <a:solidFill>
                  <a:prstClr val="black"/>
                </a:solidFill>
                <a:effectLst/>
                <a:uLnTx/>
                <a:uFillTx/>
                <a:latin typeface="Amasis MT Pro Light" panose="02040304050005020304" pitchFamily="18" charset="0"/>
              </a:rPr>
              <a:t>Tools Used</a:t>
            </a:r>
          </a:p>
          <a:p>
            <a:pPr marR="0" lvl="0" algn="ctr" defTabSz="914400" rtl="0" eaLnBrk="1" fontAlgn="auto" latinLnBrk="0" hangingPunct="1">
              <a:lnSpc>
                <a:spcPct val="90000"/>
              </a:lnSpc>
              <a:spcBef>
                <a:spcPts val="1000"/>
              </a:spcBef>
              <a:spcAft>
                <a:spcPts val="0"/>
              </a:spcAft>
              <a:buClrTx/>
              <a:buSzTx/>
              <a:tabLst/>
              <a:defRPr/>
            </a:pPr>
            <a:r>
              <a:rPr kumimoji="0" lang="en-US" b="1" i="0" u="none" strike="noStrike" kern="1200" cap="none" spc="0" normalizeH="0" baseline="0" noProof="0" dirty="0">
                <a:ln>
                  <a:noFill/>
                </a:ln>
                <a:solidFill>
                  <a:prstClr val="black"/>
                </a:solidFill>
                <a:effectLst/>
                <a:uLnTx/>
                <a:uFillTx/>
                <a:latin typeface="Amasis MT Pro Light" panose="02040304050005020304" pitchFamily="18" charset="0"/>
              </a:rPr>
              <a:t>FAISS : </a:t>
            </a: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Fast similarity search over dense vector embeddings</a:t>
            </a:r>
          </a:p>
          <a:p>
            <a:pPr marR="0" lvl="0" algn="ctr" defTabSz="914400" rtl="0" eaLnBrk="1" fontAlgn="auto" latinLnBrk="0" hangingPunct="1">
              <a:lnSpc>
                <a:spcPct val="90000"/>
              </a:lnSpc>
              <a:spcBef>
                <a:spcPts val="1000"/>
              </a:spcBef>
              <a:spcAft>
                <a:spcPts val="0"/>
              </a:spcAft>
              <a:buClrTx/>
              <a:buSzTx/>
              <a:tabLst/>
              <a:defRPr/>
            </a:pPr>
            <a:r>
              <a:rPr kumimoji="0" lang="en-US" b="1" i="0" u="none" strike="noStrike" kern="1200" cap="none" spc="0" normalizeH="0" baseline="0" noProof="0" dirty="0" err="1">
                <a:ln>
                  <a:noFill/>
                </a:ln>
                <a:solidFill>
                  <a:prstClr val="black"/>
                </a:solidFill>
                <a:effectLst/>
                <a:uLnTx/>
                <a:uFillTx/>
                <a:latin typeface="Amasis MT Pro Light" panose="02040304050005020304" pitchFamily="18" charset="0"/>
              </a:rPr>
              <a:t>LangChain</a:t>
            </a:r>
            <a:r>
              <a:rPr kumimoji="0" lang="en-US" b="1" i="0" u="none" strike="noStrike" kern="1200" cap="none" spc="0" normalizeH="0" baseline="0" noProof="0" dirty="0">
                <a:ln>
                  <a:noFill/>
                </a:ln>
                <a:solidFill>
                  <a:prstClr val="black"/>
                </a:solidFill>
                <a:effectLst/>
                <a:uLnTx/>
                <a:uFillTx/>
                <a:latin typeface="Amasis MT Pro Light" panose="02040304050005020304" pitchFamily="18" charset="0"/>
              </a:rPr>
              <a:t> :</a:t>
            </a: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 Orchestration layer connecting retrieval and generation</a:t>
            </a:r>
          </a:p>
          <a:p>
            <a:pPr marR="0" lvl="0" algn="ctr" defTabSz="914400" rtl="0" eaLnBrk="1" fontAlgn="auto" latinLnBrk="0" hangingPunct="1">
              <a:lnSpc>
                <a:spcPct val="90000"/>
              </a:lnSpc>
              <a:spcBef>
                <a:spcPts val="1000"/>
              </a:spcBef>
              <a:spcAft>
                <a:spcPts val="0"/>
              </a:spcAft>
              <a:buClrTx/>
              <a:buSzTx/>
              <a:tabLst/>
              <a:defRPr/>
            </a:pPr>
            <a:r>
              <a:rPr kumimoji="0" lang="en-US" b="1" i="0" u="none" strike="noStrike" kern="1200" cap="none" spc="0" normalizeH="0" baseline="0" noProof="0" dirty="0" err="1">
                <a:ln>
                  <a:noFill/>
                </a:ln>
                <a:solidFill>
                  <a:prstClr val="black"/>
                </a:solidFill>
                <a:effectLst/>
                <a:uLnTx/>
                <a:uFillTx/>
                <a:latin typeface="Amasis MT Pro Light" panose="02040304050005020304" pitchFamily="18" charset="0"/>
              </a:rPr>
              <a:t>HuggingFace</a:t>
            </a:r>
            <a:r>
              <a:rPr kumimoji="0" lang="en-US" b="1" i="0" u="none" strike="noStrike" kern="1200" cap="none" spc="0" normalizeH="0" baseline="0" noProof="0" dirty="0">
                <a:ln>
                  <a:noFill/>
                </a:ln>
                <a:solidFill>
                  <a:prstClr val="black"/>
                </a:solidFill>
                <a:effectLst/>
                <a:uLnTx/>
                <a:uFillTx/>
                <a:latin typeface="Amasis MT Pro Light" panose="02040304050005020304" pitchFamily="18" charset="0"/>
              </a:rPr>
              <a:t> :</a:t>
            </a: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 Embedding models and tokenization</a:t>
            </a:r>
          </a:p>
          <a:p>
            <a:pPr marR="0" lvl="0" algn="ctr" defTabSz="914400" rtl="0" eaLnBrk="1" fontAlgn="auto" latinLnBrk="0" hangingPunct="1">
              <a:lnSpc>
                <a:spcPct val="90000"/>
              </a:lnSpc>
              <a:spcBef>
                <a:spcPts val="1000"/>
              </a:spcBef>
              <a:spcAft>
                <a:spcPts val="0"/>
              </a:spcAft>
              <a:buClrTx/>
              <a:buSzTx/>
              <a:tabLst/>
              <a:defRPr/>
            </a:pPr>
            <a:r>
              <a:rPr kumimoji="0" lang="en-US" b="1" i="0" u="none" strike="noStrike" kern="1200" cap="none" spc="0" normalizeH="0" baseline="0" noProof="0" dirty="0" err="1">
                <a:ln>
                  <a:noFill/>
                </a:ln>
                <a:solidFill>
                  <a:prstClr val="black"/>
                </a:solidFill>
                <a:effectLst/>
                <a:uLnTx/>
                <a:uFillTx/>
                <a:latin typeface="Amasis MT Pro Light" panose="02040304050005020304" pitchFamily="18" charset="0"/>
              </a:rPr>
              <a:t>Ollama</a:t>
            </a:r>
            <a:r>
              <a:rPr kumimoji="0" lang="en-US" b="1" i="0" u="none" strike="noStrike" kern="1200" cap="none" spc="0" normalizeH="0" baseline="0" noProof="0" dirty="0">
                <a:ln>
                  <a:noFill/>
                </a:ln>
                <a:solidFill>
                  <a:prstClr val="black"/>
                </a:solidFill>
                <a:effectLst/>
                <a:uLnTx/>
                <a:uFillTx/>
                <a:latin typeface="Amasis MT Pro Light" panose="02040304050005020304" pitchFamily="18" charset="0"/>
              </a:rPr>
              <a:t> :</a:t>
            </a: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 Local LLM inference for Llama3, Mistral, and Phi3</a:t>
            </a:r>
          </a:p>
        </p:txBody>
      </p:sp>
      <p:pic>
        <p:nvPicPr>
          <p:cNvPr id="6" name="Picture 5">
            <a:extLst>
              <a:ext uri="{FF2B5EF4-FFF2-40B4-BE49-F238E27FC236}">
                <a16:creationId xmlns:a16="http://schemas.microsoft.com/office/drawing/2014/main" id="{ED450E82-9AA1-13D4-A71C-3E1C6BF3FD83}"/>
              </a:ext>
            </a:extLst>
          </p:cNvPr>
          <p:cNvPicPr>
            <a:picLocks noChangeAspect="1"/>
          </p:cNvPicPr>
          <p:nvPr/>
        </p:nvPicPr>
        <p:blipFill>
          <a:blip r:embed="rId2"/>
          <a:srcRect t="15511" b="8713"/>
          <a:stretch>
            <a:fillRect/>
          </a:stretch>
        </p:blipFill>
        <p:spPr>
          <a:xfrm>
            <a:off x="1388744" y="1292313"/>
            <a:ext cx="9414510" cy="2130553"/>
          </a:xfrm>
          <a:prstGeom prst="rect">
            <a:avLst/>
          </a:prstGeom>
        </p:spPr>
      </p:pic>
      <p:sp>
        <p:nvSpPr>
          <p:cNvPr id="7" name="TextBox 6">
            <a:extLst>
              <a:ext uri="{FF2B5EF4-FFF2-40B4-BE49-F238E27FC236}">
                <a16:creationId xmlns:a16="http://schemas.microsoft.com/office/drawing/2014/main" id="{01193A4B-8DE7-A0FA-6110-CAC425A43DD5}"/>
              </a:ext>
            </a:extLst>
          </p:cNvPr>
          <p:cNvSpPr txBox="1"/>
          <p:nvPr/>
        </p:nvSpPr>
        <p:spPr>
          <a:xfrm>
            <a:off x="1094231" y="3435135"/>
            <a:ext cx="10216631" cy="923330"/>
          </a:xfrm>
          <a:prstGeom prst="rect">
            <a:avLst/>
          </a:prstGeom>
          <a:noFill/>
        </p:spPr>
        <p:txBody>
          <a:bodyPr wrap="square" rtlCol="0">
            <a:spAutoFit/>
          </a:bodyPr>
          <a:lstStyle/>
          <a:p>
            <a:r>
              <a:rPr lang="en-US" dirty="0">
                <a:latin typeface="Amasis MT Pro Light" panose="02040304050005020304" pitchFamily="18" charset="0"/>
              </a:rPr>
              <a:t>The pipeline transforms raw movie data into semantically indexed chunks, retrieves the most relevant passages at query time, and passes them as context to the LLM ensuring every answer is grounded in real source material.</a:t>
            </a:r>
          </a:p>
        </p:txBody>
      </p:sp>
    </p:spTree>
    <p:extLst>
      <p:ext uri="{BB962C8B-B14F-4D97-AF65-F5344CB8AC3E}">
        <p14:creationId xmlns:p14="http://schemas.microsoft.com/office/powerpoint/2010/main" val="394541495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C8820-AFEC-8FFF-2DB0-EF61AEF29FAD}"/>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BE7EFB2E-9352-E971-B291-51F748928447}"/>
              </a:ext>
            </a:extLst>
          </p:cNvPr>
          <p:cNvSpPr/>
          <p:nvPr/>
        </p:nvSpPr>
        <p:spPr>
          <a:xfrm>
            <a:off x="3268980" y="460055"/>
            <a:ext cx="5654040" cy="70123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000" dirty="0">
                <a:solidFill>
                  <a:schemeClr val="tx1"/>
                </a:solidFill>
                <a:latin typeface="Amasis MT Pro Light" panose="02040304050005020304" pitchFamily="18" charset="0"/>
              </a:rPr>
              <a:t>Implementation Overview</a:t>
            </a:r>
          </a:p>
        </p:txBody>
      </p:sp>
      <p:sp>
        <p:nvSpPr>
          <p:cNvPr id="8" name="Rectangle: Rounded Corners 7">
            <a:extLst>
              <a:ext uri="{FF2B5EF4-FFF2-40B4-BE49-F238E27FC236}">
                <a16:creationId xmlns:a16="http://schemas.microsoft.com/office/drawing/2014/main" id="{3F74423C-8D6D-3544-58F8-7BDE0222A514}"/>
              </a:ext>
            </a:extLst>
          </p:cNvPr>
          <p:cNvSpPr/>
          <p:nvPr/>
        </p:nvSpPr>
        <p:spPr>
          <a:xfrm>
            <a:off x="551688" y="2141143"/>
            <a:ext cx="6233160" cy="441991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IN" b="1" i="0" u="none" strike="noStrike" kern="1200" cap="none" spc="0" normalizeH="0" baseline="0" noProof="0" dirty="0">
                <a:ln>
                  <a:noFill/>
                </a:ln>
                <a:solidFill>
                  <a:prstClr val="black"/>
                </a:solidFill>
                <a:effectLst/>
                <a:uLnTx/>
                <a:uFillTx/>
                <a:latin typeface="Amasis MT Pro Light" panose="02040304050005020304" pitchFamily="18" charset="0"/>
              </a:rPr>
              <a:t>Data Ingestion </a:t>
            </a:r>
            <a:r>
              <a:rPr kumimoji="0" lang="en-IN" i="0" u="none" strike="noStrike" kern="1200" cap="none" spc="0" normalizeH="0" baseline="0" noProof="0" dirty="0">
                <a:ln>
                  <a:noFill/>
                </a:ln>
                <a:solidFill>
                  <a:prstClr val="black"/>
                </a:solidFill>
                <a:effectLst/>
                <a:uLnTx/>
                <a:uFillTx/>
                <a:latin typeface="Amasis MT Pro Light" panose="02040304050005020304" pitchFamily="18" charset="0"/>
              </a:rPr>
              <a:t>: Movie data, including plots, characters, and dialogues, was loaded and prepared.</a:t>
            </a:r>
          </a:p>
          <a:p>
            <a:pPr marL="285750" marR="0" lvl="0" indent="-285750"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IN" b="1" i="0" u="none" strike="noStrike" kern="1200" cap="none" spc="0" normalizeH="0" baseline="0" noProof="0" dirty="0">
                <a:ln>
                  <a:noFill/>
                </a:ln>
                <a:solidFill>
                  <a:prstClr val="black"/>
                </a:solidFill>
                <a:effectLst/>
                <a:uLnTx/>
                <a:uFillTx/>
                <a:latin typeface="Amasis MT Pro Light" panose="02040304050005020304" pitchFamily="18" charset="0"/>
              </a:rPr>
              <a:t>Text Chunkin : </a:t>
            </a:r>
            <a:r>
              <a:rPr kumimoji="0" lang="en-IN" i="0" u="none" strike="noStrike" kern="1200" cap="none" spc="0" normalizeH="0" baseline="0" noProof="0" dirty="0">
                <a:ln>
                  <a:noFill/>
                </a:ln>
                <a:solidFill>
                  <a:prstClr val="black"/>
                </a:solidFill>
                <a:effectLst/>
                <a:uLnTx/>
                <a:uFillTx/>
                <a:latin typeface="Amasis MT Pro Light" panose="02040304050005020304" pitchFamily="18" charset="0"/>
              </a:rPr>
              <a:t>Raw text was divided into manageable, context-rich chunks for processing.</a:t>
            </a:r>
          </a:p>
          <a:p>
            <a:pPr marL="285750" marR="0" lvl="0" indent="-285750"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IN" b="1" i="0" u="none" strike="noStrike" kern="1200" cap="none" spc="0" normalizeH="0" baseline="0" noProof="0" dirty="0">
                <a:ln>
                  <a:noFill/>
                </a:ln>
                <a:solidFill>
                  <a:prstClr val="black"/>
                </a:solidFill>
                <a:effectLst/>
                <a:uLnTx/>
                <a:uFillTx/>
                <a:latin typeface="Amasis MT Pro Light" panose="02040304050005020304" pitchFamily="18" charset="0"/>
              </a:rPr>
              <a:t>Embedding Creation : </a:t>
            </a:r>
            <a:r>
              <a:rPr kumimoji="0" lang="en-IN" i="0" u="none" strike="noStrike" kern="1200" cap="none" spc="0" normalizeH="0" baseline="0" noProof="0" dirty="0">
                <a:ln>
                  <a:noFill/>
                </a:ln>
                <a:solidFill>
                  <a:prstClr val="black"/>
                </a:solidFill>
                <a:effectLst/>
                <a:uLnTx/>
                <a:uFillTx/>
                <a:latin typeface="Amasis MT Pro Light" panose="02040304050005020304" pitchFamily="18" charset="0"/>
              </a:rPr>
              <a:t>Chunks were converted into numerical vector embeddings using robust models.</a:t>
            </a:r>
          </a:p>
          <a:p>
            <a:pPr marL="285750" marR="0" lvl="0" indent="-285750"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IN" b="1" i="0" u="none" strike="noStrike" kern="1200" cap="none" spc="0" normalizeH="0" baseline="0" noProof="0" dirty="0">
                <a:ln>
                  <a:noFill/>
                </a:ln>
                <a:solidFill>
                  <a:prstClr val="black"/>
                </a:solidFill>
                <a:effectLst/>
                <a:uLnTx/>
                <a:uFillTx/>
                <a:latin typeface="Amasis MT Pro Light" panose="02040304050005020304" pitchFamily="18" charset="0"/>
              </a:rPr>
              <a:t>FAISS Storage : </a:t>
            </a:r>
            <a:r>
              <a:rPr kumimoji="0" lang="en-IN" i="0" u="none" strike="noStrike" kern="1200" cap="none" spc="0" normalizeH="0" baseline="0" noProof="0" dirty="0">
                <a:ln>
                  <a:noFill/>
                </a:ln>
                <a:solidFill>
                  <a:prstClr val="black"/>
                </a:solidFill>
                <a:effectLst/>
                <a:uLnTx/>
                <a:uFillTx/>
                <a:latin typeface="Amasis MT Pro Light" panose="02040304050005020304" pitchFamily="18" charset="0"/>
              </a:rPr>
              <a:t>Embeddings were efficiently stored and indexed in a FAISS vector database.</a:t>
            </a:r>
          </a:p>
          <a:p>
            <a:pPr marL="285750" marR="0" lvl="0" indent="-285750"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IN" b="1" i="0" u="none" strike="noStrike" kern="1200" cap="none" spc="0" normalizeH="0" baseline="0" noProof="0" dirty="0">
                <a:ln>
                  <a:noFill/>
                </a:ln>
                <a:solidFill>
                  <a:prstClr val="black"/>
                </a:solidFill>
                <a:effectLst/>
                <a:uLnTx/>
                <a:uFillTx/>
                <a:latin typeface="Amasis MT Pro Light" panose="02040304050005020304" pitchFamily="18" charset="0"/>
              </a:rPr>
              <a:t>Semantic Retrieval : </a:t>
            </a:r>
            <a:r>
              <a:rPr kumimoji="0" lang="en-IN" i="0" u="none" strike="noStrike" kern="1200" cap="none" spc="0" normalizeH="0" baseline="0" noProof="0" dirty="0">
                <a:ln>
                  <a:noFill/>
                </a:ln>
                <a:solidFill>
                  <a:prstClr val="black"/>
                </a:solidFill>
                <a:effectLst/>
                <a:uLnTx/>
                <a:uFillTx/>
                <a:latin typeface="Amasis MT Pro Light" panose="02040304050005020304" pitchFamily="18" charset="0"/>
              </a:rPr>
              <a:t>Relevant data was retrieved based on query similarity during inference.</a:t>
            </a:r>
          </a:p>
          <a:p>
            <a:pPr marL="285750" marR="0" lvl="0" indent="-285750"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IN" b="1" i="0" u="none" strike="noStrike" kern="1200" cap="none" spc="0" normalizeH="0" baseline="0" noProof="0" dirty="0">
                <a:ln>
                  <a:noFill/>
                </a:ln>
                <a:solidFill>
                  <a:prstClr val="black"/>
                </a:solidFill>
                <a:effectLst/>
                <a:uLnTx/>
                <a:uFillTx/>
                <a:latin typeface="Amasis MT Pro Light" panose="02040304050005020304" pitchFamily="18" charset="0"/>
              </a:rPr>
              <a:t>LLM Generation : </a:t>
            </a:r>
            <a:r>
              <a:rPr kumimoji="0" lang="en-IN" i="0" u="none" strike="noStrike" kern="1200" cap="none" spc="0" normalizeH="0" baseline="0" noProof="0" dirty="0">
                <a:ln>
                  <a:noFill/>
                </a:ln>
                <a:solidFill>
                  <a:prstClr val="black"/>
                </a:solidFill>
                <a:effectLst/>
                <a:uLnTx/>
                <a:uFillTx/>
                <a:latin typeface="Amasis MT Pro Light" panose="02040304050005020304" pitchFamily="18" charset="0"/>
              </a:rPr>
              <a:t>Locally deployed LLMs generated accurate answers using the retrieved context.</a:t>
            </a:r>
          </a:p>
        </p:txBody>
      </p:sp>
      <p:sp>
        <p:nvSpPr>
          <p:cNvPr id="9" name="Rectangle: Rounded Corners 8">
            <a:extLst>
              <a:ext uri="{FF2B5EF4-FFF2-40B4-BE49-F238E27FC236}">
                <a16:creationId xmlns:a16="http://schemas.microsoft.com/office/drawing/2014/main" id="{C079FA32-B92C-934F-55BA-7E887706D10F}"/>
              </a:ext>
            </a:extLst>
          </p:cNvPr>
          <p:cNvSpPr/>
          <p:nvPr/>
        </p:nvSpPr>
        <p:spPr>
          <a:xfrm>
            <a:off x="6955536" y="2842338"/>
            <a:ext cx="4684776" cy="3017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90000"/>
              </a:lnSpc>
              <a:spcBef>
                <a:spcPts val="1000"/>
              </a:spcBef>
              <a:spcAft>
                <a:spcPts val="0"/>
              </a:spcAft>
              <a:buClrTx/>
              <a:buSzTx/>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For local LLM inference, we utilized </a:t>
            </a:r>
            <a:r>
              <a:rPr kumimoji="0" lang="en-US" i="0" u="none" strike="noStrike" kern="1200" cap="none" spc="0" normalizeH="0" baseline="0" noProof="0" dirty="0" err="1">
                <a:ln>
                  <a:noFill/>
                </a:ln>
                <a:solidFill>
                  <a:prstClr val="black"/>
                </a:solidFill>
                <a:effectLst/>
                <a:uLnTx/>
                <a:uFillTx/>
                <a:latin typeface="Amasis MT Pro Light" panose="02040304050005020304" pitchFamily="18" charset="0"/>
              </a:rPr>
              <a:t>Ollama</a:t>
            </a: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 to deploy and test several cutting-edge models, including:</a:t>
            </a:r>
          </a:p>
          <a:p>
            <a:pPr marL="285750" marR="0" lvl="0" indent="-285750" algn="ctr"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US" b="1" i="1" u="none" strike="noStrike" kern="1200" cap="none" spc="0" normalizeH="0" baseline="0" noProof="0" dirty="0">
                <a:ln>
                  <a:noFill/>
                </a:ln>
                <a:solidFill>
                  <a:prstClr val="black"/>
                </a:solidFill>
                <a:effectLst/>
                <a:uLnTx/>
                <a:uFillTx/>
                <a:latin typeface="Amasis MT Pro Light" panose="02040304050005020304" pitchFamily="18" charset="0"/>
              </a:rPr>
              <a:t>Llama3</a:t>
            </a:r>
          </a:p>
          <a:p>
            <a:pPr marL="285750" marR="0" lvl="0" indent="-285750" algn="ctr"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US" b="1" i="1" u="none" strike="noStrike" kern="1200" cap="none" spc="0" normalizeH="0" baseline="0" noProof="0" dirty="0">
                <a:ln>
                  <a:noFill/>
                </a:ln>
                <a:solidFill>
                  <a:prstClr val="black"/>
                </a:solidFill>
                <a:effectLst/>
                <a:uLnTx/>
                <a:uFillTx/>
                <a:latin typeface="Amasis MT Pro Light" panose="02040304050005020304" pitchFamily="18" charset="0"/>
              </a:rPr>
              <a:t>Mistral</a:t>
            </a:r>
          </a:p>
          <a:p>
            <a:pPr marL="285750" marR="0" lvl="0" indent="-285750" algn="ctr"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US" b="1" i="1" u="none" strike="noStrike" kern="1200" cap="none" spc="0" normalizeH="0" baseline="0" noProof="0" dirty="0">
                <a:ln>
                  <a:noFill/>
                </a:ln>
                <a:solidFill>
                  <a:prstClr val="black"/>
                </a:solidFill>
                <a:effectLst/>
                <a:uLnTx/>
                <a:uFillTx/>
                <a:latin typeface="Amasis MT Pro Light" panose="02040304050005020304" pitchFamily="18" charset="0"/>
              </a:rPr>
              <a:t>Phi3</a:t>
            </a:r>
          </a:p>
        </p:txBody>
      </p:sp>
      <p:sp>
        <p:nvSpPr>
          <p:cNvPr id="2" name="TextBox 1">
            <a:extLst>
              <a:ext uri="{FF2B5EF4-FFF2-40B4-BE49-F238E27FC236}">
                <a16:creationId xmlns:a16="http://schemas.microsoft.com/office/drawing/2014/main" id="{B0B6C3D4-88AB-4AA6-5FEB-F35EA31BBCC1}"/>
              </a:ext>
            </a:extLst>
          </p:cNvPr>
          <p:cNvSpPr txBox="1"/>
          <p:nvPr/>
        </p:nvSpPr>
        <p:spPr>
          <a:xfrm>
            <a:off x="1131135" y="1375940"/>
            <a:ext cx="10216631" cy="646331"/>
          </a:xfrm>
          <a:prstGeom prst="rect">
            <a:avLst/>
          </a:prstGeom>
          <a:noFill/>
        </p:spPr>
        <p:txBody>
          <a:bodyPr wrap="square" rtlCol="0">
            <a:spAutoFit/>
          </a:bodyPr>
          <a:lstStyle/>
          <a:p>
            <a:r>
              <a:rPr lang="en-US" dirty="0">
                <a:latin typeface="Amasis MT Pro Light" panose="02040304050005020304" pitchFamily="18" charset="0"/>
              </a:rPr>
              <a:t>Our RAG pipeline was meticulously built and tested through a series of key development stages, integrating specialized tools for each step of the process.</a:t>
            </a:r>
          </a:p>
        </p:txBody>
      </p:sp>
    </p:spTree>
    <p:extLst>
      <p:ext uri="{BB962C8B-B14F-4D97-AF65-F5344CB8AC3E}">
        <p14:creationId xmlns:p14="http://schemas.microsoft.com/office/powerpoint/2010/main" val="3014673355"/>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F56A4-266B-76B1-0F5B-FB0BAC5FCC72}"/>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8B432C24-4DB1-0F8F-31F7-E25F8D7483B9}"/>
              </a:ext>
            </a:extLst>
          </p:cNvPr>
          <p:cNvSpPr/>
          <p:nvPr/>
        </p:nvSpPr>
        <p:spPr>
          <a:xfrm>
            <a:off x="3268980" y="582071"/>
            <a:ext cx="5654040" cy="70123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000" dirty="0">
                <a:solidFill>
                  <a:schemeClr val="tx1"/>
                </a:solidFill>
                <a:latin typeface="Amasis MT Pro Light" panose="02040304050005020304" pitchFamily="18" charset="0"/>
              </a:rPr>
              <a:t>Evaluation Metrics</a:t>
            </a:r>
          </a:p>
        </p:txBody>
      </p:sp>
      <p:sp>
        <p:nvSpPr>
          <p:cNvPr id="8" name="Rectangle: Rounded Corners 7">
            <a:extLst>
              <a:ext uri="{FF2B5EF4-FFF2-40B4-BE49-F238E27FC236}">
                <a16:creationId xmlns:a16="http://schemas.microsoft.com/office/drawing/2014/main" id="{95C52E79-06C6-8A1D-4C46-91177124CD59}"/>
              </a:ext>
            </a:extLst>
          </p:cNvPr>
          <p:cNvSpPr/>
          <p:nvPr/>
        </p:nvSpPr>
        <p:spPr>
          <a:xfrm>
            <a:off x="6096000" y="2359153"/>
            <a:ext cx="4611624" cy="291693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Compared answers across 3 models </a:t>
            </a:r>
          </a:p>
          <a:p>
            <a:pPr marL="285750" marR="0" lvl="0" indent="-285750"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Focused on reasoning + emotional understanding </a:t>
            </a:r>
          </a:p>
          <a:p>
            <a:pPr marL="285750" marR="0" lvl="0" indent="-285750"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Evaluated both short and deep questions </a:t>
            </a:r>
          </a:p>
          <a:p>
            <a:pPr marL="285750" marR="0" lvl="0" indent="-285750"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Used RAG-based answers for better accuracy </a:t>
            </a:r>
          </a:p>
        </p:txBody>
      </p:sp>
      <p:sp>
        <p:nvSpPr>
          <p:cNvPr id="9" name="Rectangle: Rounded Corners 8">
            <a:extLst>
              <a:ext uri="{FF2B5EF4-FFF2-40B4-BE49-F238E27FC236}">
                <a16:creationId xmlns:a16="http://schemas.microsoft.com/office/drawing/2014/main" id="{C9FDFBEA-E048-60D9-BB86-DA7B58E89B66}"/>
              </a:ext>
            </a:extLst>
          </p:cNvPr>
          <p:cNvSpPr/>
          <p:nvPr/>
        </p:nvSpPr>
        <p:spPr>
          <a:xfrm>
            <a:off x="926592" y="1709930"/>
            <a:ext cx="4684776" cy="421538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90000"/>
              </a:lnSpc>
              <a:spcBef>
                <a:spcPts val="1000"/>
              </a:spcBef>
              <a:spcAft>
                <a:spcPts val="0"/>
              </a:spcAft>
              <a:buClrTx/>
              <a:buSzTx/>
              <a:tabLst/>
              <a:defRPr/>
            </a:pPr>
            <a:r>
              <a:rPr kumimoji="0" lang="en-US" b="1" i="0" u="none" strike="noStrike" kern="1200" cap="none" spc="0" normalizeH="0" baseline="0" noProof="0" dirty="0">
                <a:ln>
                  <a:noFill/>
                </a:ln>
                <a:solidFill>
                  <a:prstClr val="black"/>
                </a:solidFill>
                <a:effectLst/>
                <a:uLnTx/>
                <a:uFillTx/>
                <a:latin typeface="Amasis MT Pro Light" panose="02040304050005020304" pitchFamily="18" charset="0"/>
              </a:rPr>
              <a:t>Accuracy</a:t>
            </a:r>
            <a:b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b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How correct the answer is based on movie data </a:t>
            </a:r>
          </a:p>
          <a:p>
            <a:pPr marR="0" lvl="0" defTabSz="914400" rtl="0" eaLnBrk="1" fontAlgn="auto" latinLnBrk="0" hangingPunct="1">
              <a:lnSpc>
                <a:spcPct val="90000"/>
              </a:lnSpc>
              <a:spcBef>
                <a:spcPts val="1000"/>
              </a:spcBef>
              <a:spcAft>
                <a:spcPts val="0"/>
              </a:spcAft>
              <a:buClrTx/>
              <a:buSzTx/>
              <a:tabLst/>
              <a:defRPr/>
            </a:pPr>
            <a:r>
              <a:rPr kumimoji="0" lang="en-US" b="1" i="0" u="none" strike="noStrike" kern="1200" cap="none" spc="0" normalizeH="0" baseline="0" noProof="0" dirty="0">
                <a:ln>
                  <a:noFill/>
                </a:ln>
                <a:solidFill>
                  <a:prstClr val="black"/>
                </a:solidFill>
                <a:effectLst/>
                <a:uLnTx/>
                <a:uFillTx/>
                <a:latin typeface="Amasis MT Pro Light" panose="02040304050005020304" pitchFamily="18" charset="0"/>
              </a:rPr>
              <a:t>Reasoning</a:t>
            </a:r>
            <a:b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b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How well the model explains why </a:t>
            </a:r>
          </a:p>
          <a:p>
            <a:pPr marR="0" lvl="0" defTabSz="914400" rtl="0" eaLnBrk="1" fontAlgn="auto" latinLnBrk="0" hangingPunct="1">
              <a:lnSpc>
                <a:spcPct val="90000"/>
              </a:lnSpc>
              <a:spcBef>
                <a:spcPts val="1000"/>
              </a:spcBef>
              <a:spcAft>
                <a:spcPts val="0"/>
              </a:spcAft>
              <a:buClrTx/>
              <a:buSzTx/>
              <a:tabLst/>
              <a:defRPr/>
            </a:pPr>
            <a:r>
              <a:rPr kumimoji="0" lang="en-US" b="1" i="0" u="none" strike="noStrike" kern="1200" cap="none" spc="0" normalizeH="0" baseline="0" noProof="0" dirty="0">
                <a:ln>
                  <a:noFill/>
                </a:ln>
                <a:solidFill>
                  <a:prstClr val="black"/>
                </a:solidFill>
                <a:effectLst/>
                <a:uLnTx/>
                <a:uFillTx/>
                <a:latin typeface="Amasis MT Pro Light" panose="02040304050005020304" pitchFamily="18" charset="0"/>
              </a:rPr>
              <a:t>Emotion Understanding</a:t>
            </a:r>
            <a:b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b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Ability to capture character feelings and psychology </a:t>
            </a:r>
          </a:p>
          <a:p>
            <a:pPr marR="0" lvl="0" defTabSz="914400" rtl="0" eaLnBrk="1" fontAlgn="auto" latinLnBrk="0" hangingPunct="1">
              <a:lnSpc>
                <a:spcPct val="90000"/>
              </a:lnSpc>
              <a:spcBef>
                <a:spcPts val="1000"/>
              </a:spcBef>
              <a:spcAft>
                <a:spcPts val="0"/>
              </a:spcAft>
              <a:buClrTx/>
              <a:buSzTx/>
              <a:tabLst/>
              <a:defRPr/>
            </a:pPr>
            <a:r>
              <a:rPr kumimoji="0" lang="en-US" b="1" i="0" u="none" strike="noStrike" kern="1200" cap="none" spc="0" normalizeH="0" baseline="0" noProof="0" dirty="0">
                <a:ln>
                  <a:noFill/>
                </a:ln>
                <a:solidFill>
                  <a:prstClr val="black"/>
                </a:solidFill>
                <a:effectLst/>
                <a:uLnTx/>
                <a:uFillTx/>
                <a:latin typeface="Amasis MT Pro Light" panose="02040304050005020304" pitchFamily="18" charset="0"/>
              </a:rPr>
              <a:t>Hallucination</a:t>
            </a:r>
            <a:b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b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Whether the model adds incorrect or unrelated information </a:t>
            </a:r>
          </a:p>
        </p:txBody>
      </p:sp>
    </p:spTree>
    <p:extLst>
      <p:ext uri="{BB962C8B-B14F-4D97-AF65-F5344CB8AC3E}">
        <p14:creationId xmlns:p14="http://schemas.microsoft.com/office/powerpoint/2010/main" val="2262785503"/>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8FAFB-7A1A-85BB-3110-75F52DA10D38}"/>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795AB540-CCB0-D525-6027-0D72AC0E547F}"/>
              </a:ext>
            </a:extLst>
          </p:cNvPr>
          <p:cNvSpPr/>
          <p:nvPr/>
        </p:nvSpPr>
        <p:spPr>
          <a:xfrm>
            <a:off x="3268980" y="460055"/>
            <a:ext cx="5654040" cy="70123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000" dirty="0">
                <a:solidFill>
                  <a:schemeClr val="tx1"/>
                </a:solidFill>
                <a:latin typeface="Amasis MT Pro Light" panose="02040304050005020304" pitchFamily="18" charset="0"/>
              </a:rPr>
              <a:t>Model Comparison &amp; Results </a:t>
            </a:r>
          </a:p>
        </p:txBody>
      </p:sp>
      <p:sp>
        <p:nvSpPr>
          <p:cNvPr id="8" name="Rectangle: Rounded Corners 7">
            <a:extLst>
              <a:ext uri="{FF2B5EF4-FFF2-40B4-BE49-F238E27FC236}">
                <a16:creationId xmlns:a16="http://schemas.microsoft.com/office/drawing/2014/main" id="{C8879924-BAF5-DF70-6CF0-4DFE41DC0B81}"/>
              </a:ext>
            </a:extLst>
          </p:cNvPr>
          <p:cNvSpPr/>
          <p:nvPr/>
        </p:nvSpPr>
        <p:spPr>
          <a:xfrm>
            <a:off x="1153668" y="4777972"/>
            <a:ext cx="9884664" cy="140817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90000"/>
              </a:lnSpc>
              <a:spcBef>
                <a:spcPts val="1000"/>
              </a:spcBef>
              <a:spcAft>
                <a:spcPts val="0"/>
              </a:spcAft>
              <a:buClrTx/>
              <a:buSzTx/>
              <a:tabLst/>
              <a:defRPr/>
            </a:pP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Phi-3: Small but Powerful </a:t>
            </a:r>
            <a:r>
              <a:rPr kumimoji="0" lang="en-US" i="0" u="none" strike="noStrike" kern="1200" cap="none" spc="0" normalizeH="0" baseline="0" noProof="0" dirty="0" err="1">
                <a:ln>
                  <a:noFill/>
                </a:ln>
                <a:solidFill>
                  <a:prstClr val="black"/>
                </a:solidFill>
                <a:effectLst/>
                <a:uLnTx/>
                <a:uFillTx/>
                <a:latin typeface="Amasis MT Pro Light" panose="02040304050005020304" pitchFamily="18" charset="0"/>
              </a:rPr>
              <a:t>LeaderDespite</a:t>
            </a: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 its smaller size, Phi-3 emerged as the best-performing model overall, demonstrating superior accuracy and matching Llama 3 in reasoning and emotional intelligence. Its consistent hallucination rate across all models highlights the RAG system's effectiveness in grounding responses.</a:t>
            </a:r>
            <a:endParaRPr kumimoji="0" lang="en-IN" i="0" u="none" strike="noStrike" kern="1200" cap="none" spc="0" normalizeH="0" baseline="0" noProof="0" dirty="0">
              <a:ln>
                <a:noFill/>
              </a:ln>
              <a:solidFill>
                <a:prstClr val="black"/>
              </a:solidFill>
              <a:effectLst/>
              <a:uLnTx/>
              <a:uFillTx/>
              <a:latin typeface="Amasis MT Pro Light" panose="02040304050005020304" pitchFamily="18" charset="0"/>
            </a:endParaRPr>
          </a:p>
        </p:txBody>
      </p:sp>
      <p:pic>
        <p:nvPicPr>
          <p:cNvPr id="3" name="Picture 2">
            <a:extLst>
              <a:ext uri="{FF2B5EF4-FFF2-40B4-BE49-F238E27FC236}">
                <a16:creationId xmlns:a16="http://schemas.microsoft.com/office/drawing/2014/main" id="{DFE993EF-9373-F085-53A8-38F778258AA5}"/>
              </a:ext>
            </a:extLst>
          </p:cNvPr>
          <p:cNvPicPr>
            <a:picLocks noChangeAspect="1"/>
          </p:cNvPicPr>
          <p:nvPr/>
        </p:nvPicPr>
        <p:blipFill>
          <a:blip r:embed="rId2"/>
          <a:stretch>
            <a:fillRect/>
          </a:stretch>
        </p:blipFill>
        <p:spPr>
          <a:xfrm>
            <a:off x="1199180" y="2236922"/>
            <a:ext cx="4896820" cy="2210754"/>
          </a:xfrm>
          <a:prstGeom prst="rect">
            <a:avLst/>
          </a:prstGeom>
        </p:spPr>
      </p:pic>
      <p:sp>
        <p:nvSpPr>
          <p:cNvPr id="4" name="TextBox 3">
            <a:extLst>
              <a:ext uri="{FF2B5EF4-FFF2-40B4-BE49-F238E27FC236}">
                <a16:creationId xmlns:a16="http://schemas.microsoft.com/office/drawing/2014/main" id="{AC6433ED-58AD-635C-3584-DCDC23405694}"/>
              </a:ext>
            </a:extLst>
          </p:cNvPr>
          <p:cNvSpPr txBox="1"/>
          <p:nvPr/>
        </p:nvSpPr>
        <p:spPr>
          <a:xfrm>
            <a:off x="1131135" y="1375940"/>
            <a:ext cx="10216631" cy="646331"/>
          </a:xfrm>
          <a:prstGeom prst="rect">
            <a:avLst/>
          </a:prstGeom>
          <a:noFill/>
        </p:spPr>
        <p:txBody>
          <a:bodyPr wrap="square" rtlCol="0">
            <a:spAutoFit/>
          </a:bodyPr>
          <a:lstStyle/>
          <a:p>
            <a:r>
              <a:rPr lang="en-US" dirty="0">
                <a:latin typeface="Amasis MT Pro Light" panose="02040304050005020304" pitchFamily="18" charset="0"/>
              </a:rPr>
              <a:t>A deeper look into how each LLM performs across critical metrics, including accuracy, reasoning capabilities, emotional intelligence, and hallucination rates within our RAG framework.</a:t>
            </a:r>
          </a:p>
        </p:txBody>
      </p:sp>
      <p:pic>
        <p:nvPicPr>
          <p:cNvPr id="7" name="Picture 6">
            <a:extLst>
              <a:ext uri="{FF2B5EF4-FFF2-40B4-BE49-F238E27FC236}">
                <a16:creationId xmlns:a16="http://schemas.microsoft.com/office/drawing/2014/main" id="{B02705A1-354A-2DC5-F5E4-BC71BF59F7F4}"/>
              </a:ext>
            </a:extLst>
          </p:cNvPr>
          <p:cNvPicPr>
            <a:picLocks noChangeAspect="1"/>
          </p:cNvPicPr>
          <p:nvPr/>
        </p:nvPicPr>
        <p:blipFill>
          <a:blip r:embed="rId3"/>
          <a:stretch>
            <a:fillRect/>
          </a:stretch>
        </p:blipFill>
        <p:spPr>
          <a:xfrm>
            <a:off x="6461058" y="2070173"/>
            <a:ext cx="4118550" cy="2659897"/>
          </a:xfrm>
          <a:prstGeom prst="rect">
            <a:avLst/>
          </a:prstGeom>
        </p:spPr>
      </p:pic>
    </p:spTree>
    <p:extLst>
      <p:ext uri="{BB962C8B-B14F-4D97-AF65-F5344CB8AC3E}">
        <p14:creationId xmlns:p14="http://schemas.microsoft.com/office/powerpoint/2010/main" val="2404549359"/>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29E8F-6AF0-D996-8461-598BD3A515D1}"/>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A08B05CB-9C29-276B-7BF7-BDF02C530390}"/>
              </a:ext>
            </a:extLst>
          </p:cNvPr>
          <p:cNvSpPr/>
          <p:nvPr/>
        </p:nvSpPr>
        <p:spPr>
          <a:xfrm>
            <a:off x="1139952" y="1255679"/>
            <a:ext cx="9741408" cy="70123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000" dirty="0">
                <a:solidFill>
                  <a:schemeClr val="tx1"/>
                </a:solidFill>
                <a:latin typeface="Amasis MT Pro Light" panose="02040304050005020304" pitchFamily="18" charset="0"/>
              </a:rPr>
              <a:t>Model Analysis : Strengths and Weaknesses</a:t>
            </a:r>
          </a:p>
        </p:txBody>
      </p:sp>
      <p:sp>
        <p:nvSpPr>
          <p:cNvPr id="8" name="Rectangle: Rounded Corners 7">
            <a:extLst>
              <a:ext uri="{FF2B5EF4-FFF2-40B4-BE49-F238E27FC236}">
                <a16:creationId xmlns:a16="http://schemas.microsoft.com/office/drawing/2014/main" id="{3A08AB29-03F6-F24C-4907-ACFF48ABAB2D}"/>
              </a:ext>
            </a:extLst>
          </p:cNvPr>
          <p:cNvSpPr/>
          <p:nvPr/>
        </p:nvSpPr>
        <p:spPr>
          <a:xfrm>
            <a:off x="426720" y="2284476"/>
            <a:ext cx="3587496" cy="291693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lnSpc>
                <a:spcPct val="90000"/>
              </a:lnSpc>
              <a:spcBef>
                <a:spcPts val="1000"/>
              </a:spcBef>
              <a:defRPr/>
            </a:pPr>
            <a:r>
              <a:rPr lang="en-US" b="1" i="1" dirty="0">
                <a:solidFill>
                  <a:prstClr val="black"/>
                </a:solidFill>
                <a:latin typeface="Amasis MT Pro Light" panose="02040304050005020304" pitchFamily="18" charset="0"/>
              </a:rPr>
              <a:t>Phi3 </a:t>
            </a:r>
            <a:r>
              <a:rPr lang="en-US" i="1" dirty="0">
                <a:solidFill>
                  <a:prstClr val="black"/>
                </a:solidFill>
                <a:latin typeface="Amasis MT Pro Light" panose="02040304050005020304" pitchFamily="18" charset="0"/>
              </a:rPr>
              <a:t> </a:t>
            </a:r>
          </a:p>
          <a:p>
            <a:pPr lvl="0">
              <a:lnSpc>
                <a:spcPct val="90000"/>
              </a:lnSpc>
              <a:spcBef>
                <a:spcPts val="1000"/>
              </a:spcBef>
              <a:defRPr/>
            </a:pPr>
            <a:r>
              <a:rPr lang="en-US" b="1" dirty="0">
                <a:solidFill>
                  <a:prstClr val="black"/>
                </a:solidFill>
                <a:latin typeface="Amasis MT Pro Light" panose="02040304050005020304" pitchFamily="18" charset="0"/>
              </a:rPr>
              <a:t>Best Strength</a:t>
            </a:r>
            <a:r>
              <a:rPr lang="en-US" dirty="0">
                <a:solidFill>
                  <a:prstClr val="black"/>
                </a:solidFill>
                <a:latin typeface="Amasis MT Pro Light" panose="02040304050005020304" pitchFamily="18" charset="0"/>
              </a:rPr>
              <a:t>: Achieved the highest accuracy for its compact size, demonstrating strong reasoning and emotional intelligence.</a:t>
            </a:r>
          </a:p>
          <a:p>
            <a:pPr lvl="0">
              <a:lnSpc>
                <a:spcPct val="90000"/>
              </a:lnSpc>
              <a:spcBef>
                <a:spcPts val="1000"/>
              </a:spcBef>
              <a:defRPr/>
            </a:pPr>
            <a:r>
              <a:rPr lang="en-US" b="1" dirty="0">
                <a:solidFill>
                  <a:prstClr val="black"/>
                </a:solidFill>
                <a:latin typeface="Amasis MT Pro Light" panose="02040304050005020304" pitchFamily="18" charset="0"/>
              </a:rPr>
              <a:t>Weakness</a:t>
            </a:r>
            <a:r>
              <a:rPr lang="en-US" dirty="0">
                <a:solidFill>
                  <a:prstClr val="black"/>
                </a:solidFill>
                <a:latin typeface="Amasis MT Pro Light" panose="02040304050005020304" pitchFamily="18" charset="0"/>
              </a:rPr>
              <a:t>: May offer less exhaustive detail compared to larger models for extremely complex, nuanced narratives</a:t>
            </a:r>
            <a:endParaRPr kumimoji="0" lang="en-IN" i="0" u="none" strike="noStrike" kern="1200" cap="none" spc="0" normalizeH="0" baseline="0" noProof="0" dirty="0">
              <a:ln>
                <a:noFill/>
              </a:ln>
              <a:solidFill>
                <a:prstClr val="black"/>
              </a:solidFill>
              <a:effectLst/>
              <a:uLnTx/>
              <a:uFillTx/>
              <a:latin typeface="Amasis MT Pro Light" panose="02040304050005020304" pitchFamily="18" charset="0"/>
            </a:endParaRPr>
          </a:p>
        </p:txBody>
      </p:sp>
      <p:sp>
        <p:nvSpPr>
          <p:cNvPr id="2" name="Rectangle: Rounded Corners 1">
            <a:extLst>
              <a:ext uri="{FF2B5EF4-FFF2-40B4-BE49-F238E27FC236}">
                <a16:creationId xmlns:a16="http://schemas.microsoft.com/office/drawing/2014/main" id="{F5427659-9B53-C4DC-38FE-07B6F9EED0C0}"/>
              </a:ext>
            </a:extLst>
          </p:cNvPr>
          <p:cNvSpPr/>
          <p:nvPr/>
        </p:nvSpPr>
        <p:spPr>
          <a:xfrm>
            <a:off x="4302252" y="2334768"/>
            <a:ext cx="3587496" cy="291693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lnSpc>
                <a:spcPct val="90000"/>
              </a:lnSpc>
              <a:spcBef>
                <a:spcPts val="1000"/>
              </a:spcBef>
              <a:defRPr/>
            </a:pPr>
            <a:r>
              <a:rPr lang="en-US" b="1" dirty="0">
                <a:solidFill>
                  <a:prstClr val="black"/>
                </a:solidFill>
                <a:latin typeface="Amasis MT Pro Light" panose="02040304050005020304" pitchFamily="18" charset="0"/>
              </a:rPr>
              <a:t>Llama3</a:t>
            </a:r>
          </a:p>
          <a:p>
            <a:pPr lvl="0">
              <a:lnSpc>
                <a:spcPct val="90000"/>
              </a:lnSpc>
              <a:spcBef>
                <a:spcPts val="1000"/>
              </a:spcBef>
              <a:defRPr/>
            </a:pPr>
            <a:r>
              <a:rPr lang="en-US" b="1" dirty="0">
                <a:solidFill>
                  <a:prstClr val="black"/>
                </a:solidFill>
                <a:latin typeface="Amasis MT Pro Light" panose="02040304050005020304" pitchFamily="18" charset="0"/>
              </a:rPr>
              <a:t>Strength</a:t>
            </a:r>
            <a:r>
              <a:rPr lang="en-US" dirty="0">
                <a:solidFill>
                  <a:prstClr val="black"/>
                </a:solidFill>
                <a:latin typeface="Amasis MT Pro Light" panose="02040304050005020304" pitchFamily="18" charset="0"/>
              </a:rPr>
              <a:t>: Produces detailed, narrative-rich responses with robust multi-step reasoning and emotional understanding.</a:t>
            </a:r>
          </a:p>
          <a:p>
            <a:pPr lvl="0">
              <a:lnSpc>
                <a:spcPct val="90000"/>
              </a:lnSpc>
              <a:spcBef>
                <a:spcPts val="1000"/>
              </a:spcBef>
              <a:defRPr/>
            </a:pPr>
            <a:r>
              <a:rPr lang="en-US" b="1" dirty="0">
                <a:solidFill>
                  <a:prstClr val="black"/>
                </a:solidFill>
                <a:latin typeface="Amasis MT Pro Light" panose="02040304050005020304" pitchFamily="18" charset="0"/>
              </a:rPr>
              <a:t>Weakness</a:t>
            </a:r>
            <a:r>
              <a:rPr lang="en-US" dirty="0">
                <a:solidFill>
                  <a:prstClr val="black"/>
                </a:solidFill>
                <a:latin typeface="Amasis MT Pro Light" panose="02040304050005020304" pitchFamily="18" charset="0"/>
              </a:rPr>
              <a:t>: Slightly lower overall accuracy than Phi-3, and can sometimes be verbose.</a:t>
            </a:r>
            <a:endParaRPr kumimoji="0" lang="en-IN" i="0" u="none" strike="noStrike" kern="1200" cap="none" spc="0" normalizeH="0" baseline="0" noProof="0" dirty="0">
              <a:ln>
                <a:noFill/>
              </a:ln>
              <a:solidFill>
                <a:prstClr val="black"/>
              </a:solidFill>
              <a:effectLst/>
              <a:uLnTx/>
              <a:uFillTx/>
              <a:latin typeface="Amasis MT Pro Light" panose="02040304050005020304" pitchFamily="18" charset="0"/>
            </a:endParaRPr>
          </a:p>
        </p:txBody>
      </p:sp>
      <p:sp>
        <p:nvSpPr>
          <p:cNvPr id="3" name="Rectangle: Rounded Corners 2">
            <a:extLst>
              <a:ext uri="{FF2B5EF4-FFF2-40B4-BE49-F238E27FC236}">
                <a16:creationId xmlns:a16="http://schemas.microsoft.com/office/drawing/2014/main" id="{6015EF45-4805-7D9A-7956-F36E7F07DBBC}"/>
              </a:ext>
            </a:extLst>
          </p:cNvPr>
          <p:cNvSpPr/>
          <p:nvPr/>
        </p:nvSpPr>
        <p:spPr>
          <a:xfrm>
            <a:off x="8177784" y="2334768"/>
            <a:ext cx="3587496" cy="291693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lnSpc>
                <a:spcPct val="90000"/>
              </a:lnSpc>
              <a:spcBef>
                <a:spcPts val="1000"/>
              </a:spcBef>
              <a:defRPr/>
            </a:pPr>
            <a:r>
              <a:rPr lang="en-US" b="1" dirty="0">
                <a:solidFill>
                  <a:prstClr val="black"/>
                </a:solidFill>
                <a:latin typeface="Amasis MT Pro Light" panose="02040304050005020304" pitchFamily="18" charset="0"/>
              </a:rPr>
              <a:t>Mistral</a:t>
            </a:r>
          </a:p>
          <a:p>
            <a:pPr lvl="0">
              <a:lnSpc>
                <a:spcPct val="90000"/>
              </a:lnSpc>
              <a:spcBef>
                <a:spcPts val="1000"/>
              </a:spcBef>
              <a:defRPr/>
            </a:pPr>
            <a:r>
              <a:rPr lang="en-US" b="1" dirty="0">
                <a:solidFill>
                  <a:prstClr val="black"/>
                </a:solidFill>
                <a:latin typeface="Amasis MT Pro Light" panose="02040304050005020304" pitchFamily="18" charset="0"/>
              </a:rPr>
              <a:t>Strength</a:t>
            </a:r>
            <a:r>
              <a:rPr lang="en-US" dirty="0">
                <a:solidFill>
                  <a:prstClr val="black"/>
                </a:solidFill>
                <a:latin typeface="Amasis MT Pro Light" panose="02040304050005020304" pitchFamily="18" charset="0"/>
              </a:rPr>
              <a:t>: Efficient and robust, offering strong reasoning capabilities and good emotional intelligence.</a:t>
            </a:r>
          </a:p>
          <a:p>
            <a:pPr lvl="0">
              <a:lnSpc>
                <a:spcPct val="90000"/>
              </a:lnSpc>
              <a:spcBef>
                <a:spcPts val="1000"/>
              </a:spcBef>
              <a:defRPr/>
            </a:pPr>
            <a:r>
              <a:rPr lang="en-US" b="1" dirty="0">
                <a:solidFill>
                  <a:prstClr val="black"/>
                </a:solidFill>
                <a:latin typeface="Amasis MT Pro Light" panose="02040304050005020304" pitchFamily="18" charset="0"/>
              </a:rPr>
              <a:t>Weakness</a:t>
            </a:r>
            <a:r>
              <a:rPr lang="en-US" dirty="0">
                <a:solidFill>
                  <a:prstClr val="black"/>
                </a:solidFill>
                <a:latin typeface="Amasis MT Pro Light" panose="02040304050005020304" pitchFamily="18" charset="0"/>
              </a:rPr>
              <a:t>: Showed slightly lower overall accuracy in this evaluation compared to Phi-3 and Llama3.</a:t>
            </a:r>
            <a:endParaRPr kumimoji="0" lang="en-IN" i="0" u="none" strike="noStrike" kern="1200" cap="none" spc="0" normalizeH="0" baseline="0" noProof="0" dirty="0">
              <a:ln>
                <a:noFill/>
              </a:ln>
              <a:solidFill>
                <a:prstClr val="black"/>
              </a:solidFill>
              <a:effectLst/>
              <a:uLnTx/>
              <a:uFillTx/>
              <a:latin typeface="Amasis MT Pro Light" panose="02040304050005020304" pitchFamily="18" charset="0"/>
            </a:endParaRPr>
          </a:p>
        </p:txBody>
      </p:sp>
    </p:spTree>
    <p:extLst>
      <p:ext uri="{BB962C8B-B14F-4D97-AF65-F5344CB8AC3E}">
        <p14:creationId xmlns:p14="http://schemas.microsoft.com/office/powerpoint/2010/main" val="419645985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F3026-61B3-6290-6B66-F105DF2A3FB8}"/>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FE6E397A-A706-743F-D1B5-01A4E29EE3AD}"/>
              </a:ext>
            </a:extLst>
          </p:cNvPr>
          <p:cNvSpPr/>
          <p:nvPr/>
        </p:nvSpPr>
        <p:spPr>
          <a:xfrm>
            <a:off x="3268980" y="460055"/>
            <a:ext cx="5654040" cy="70123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000" dirty="0">
                <a:solidFill>
                  <a:schemeClr val="tx1"/>
                </a:solidFill>
                <a:latin typeface="Amasis MT Pro Light" panose="02040304050005020304" pitchFamily="18" charset="0"/>
              </a:rPr>
              <a:t>Key Findings</a:t>
            </a:r>
          </a:p>
        </p:txBody>
      </p:sp>
      <p:sp>
        <p:nvSpPr>
          <p:cNvPr id="8" name="Rectangle: Rounded Corners 7">
            <a:extLst>
              <a:ext uri="{FF2B5EF4-FFF2-40B4-BE49-F238E27FC236}">
                <a16:creationId xmlns:a16="http://schemas.microsoft.com/office/drawing/2014/main" id="{5B5E9907-6E9E-8B11-6A97-C70A05148898}"/>
              </a:ext>
            </a:extLst>
          </p:cNvPr>
          <p:cNvSpPr/>
          <p:nvPr/>
        </p:nvSpPr>
        <p:spPr>
          <a:xfrm>
            <a:off x="6279181" y="1352859"/>
            <a:ext cx="4611624" cy="52760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90000"/>
              </a:lnSpc>
              <a:spcBef>
                <a:spcPts val="1000"/>
              </a:spcBef>
              <a:spcAft>
                <a:spcPts val="0"/>
              </a:spcAft>
              <a:buClrTx/>
              <a:buSzTx/>
              <a:tabLst/>
              <a:defRPr/>
            </a:pPr>
            <a:r>
              <a:rPr kumimoji="0" lang="en-US" b="1" i="0" u="none" strike="noStrike" kern="1200" cap="none" spc="0" normalizeH="0" baseline="0" noProof="0" dirty="0">
                <a:ln>
                  <a:noFill/>
                </a:ln>
                <a:solidFill>
                  <a:prstClr val="black"/>
                </a:solidFill>
                <a:effectLst/>
                <a:uLnTx/>
                <a:uFillTx/>
                <a:latin typeface="Amasis MT Pro Light" panose="02040304050005020304" pitchFamily="18" charset="0"/>
              </a:rPr>
              <a:t>RAG Dramatically Reduces Hallucination </a:t>
            </a: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Grounding responses in retrieved source passages prevents models from fabricating plot details or character motivations.</a:t>
            </a:r>
          </a:p>
          <a:p>
            <a:pPr marR="0" lvl="0" defTabSz="914400" rtl="0" eaLnBrk="1" fontAlgn="auto" latinLnBrk="0" hangingPunct="1">
              <a:lnSpc>
                <a:spcPct val="90000"/>
              </a:lnSpc>
              <a:spcBef>
                <a:spcPts val="1000"/>
              </a:spcBef>
              <a:spcAft>
                <a:spcPts val="0"/>
              </a:spcAft>
              <a:buClrTx/>
              <a:buSzTx/>
              <a:tabLst/>
              <a:defRPr/>
            </a:pPr>
            <a:r>
              <a:rPr kumimoji="0" lang="en-US" b="1" i="0" u="none" strike="noStrike" kern="1200" cap="none" spc="0" normalizeH="0" baseline="0" noProof="0" dirty="0">
                <a:ln>
                  <a:noFill/>
                </a:ln>
                <a:solidFill>
                  <a:prstClr val="black"/>
                </a:solidFill>
                <a:effectLst/>
                <a:uLnTx/>
                <a:uFillTx/>
                <a:latin typeface="Amasis MT Pro Light" panose="02040304050005020304" pitchFamily="18" charset="0"/>
              </a:rPr>
              <a:t>Context-Aware Answers Improve Reasoning Depth                                      </a:t>
            </a: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All three models produced significantly more nuanced answers when augmented with relevant movie data versus raw prompting.</a:t>
            </a:r>
          </a:p>
          <a:p>
            <a:pPr marR="0" lvl="0" defTabSz="914400" rtl="0" eaLnBrk="1" fontAlgn="auto" latinLnBrk="0" hangingPunct="1">
              <a:lnSpc>
                <a:spcPct val="90000"/>
              </a:lnSpc>
              <a:spcBef>
                <a:spcPts val="1000"/>
              </a:spcBef>
              <a:spcAft>
                <a:spcPts val="0"/>
              </a:spcAft>
              <a:buClrTx/>
              <a:buSzTx/>
              <a:tabLst/>
              <a:defRPr/>
            </a:pPr>
            <a:r>
              <a:rPr kumimoji="0" lang="en-US" b="1" i="0" u="none" strike="noStrike" kern="1200" cap="none" spc="0" normalizeH="0" baseline="0" noProof="0" dirty="0">
                <a:ln>
                  <a:noFill/>
                </a:ln>
                <a:solidFill>
                  <a:prstClr val="black"/>
                </a:solidFill>
                <a:effectLst/>
                <a:uLnTx/>
                <a:uFillTx/>
                <a:latin typeface="Amasis MT Pro Light" panose="02040304050005020304" pitchFamily="18" charset="0"/>
              </a:rPr>
              <a:t>Model Choice Remains Critical            </a:t>
            </a:r>
            <a:r>
              <a:rPr kumimoji="0" lang="en-US" i="0" u="none" strike="noStrike" kern="1200" cap="none" spc="0" normalizeH="0" baseline="0" noProof="0" dirty="0">
                <a:ln>
                  <a:noFill/>
                </a:ln>
                <a:solidFill>
                  <a:prstClr val="black"/>
                </a:solidFill>
                <a:effectLst/>
                <a:uLnTx/>
                <a:uFillTx/>
                <a:latin typeface="Amasis MT Pro Light" panose="02040304050005020304" pitchFamily="18" charset="0"/>
              </a:rPr>
              <a:t>RAG improves every model's output, but the underlying LLM still determines reasoning quality Phi consistently led across all metrics.</a:t>
            </a:r>
            <a:endParaRPr kumimoji="0" lang="en-IN" i="0" u="none" strike="noStrike" kern="1200" cap="none" spc="0" normalizeH="0" baseline="0" noProof="0" dirty="0">
              <a:ln>
                <a:noFill/>
              </a:ln>
              <a:solidFill>
                <a:prstClr val="black"/>
              </a:solidFill>
              <a:effectLst/>
              <a:uLnTx/>
              <a:uFillTx/>
              <a:latin typeface="Amasis MT Pro Light" panose="02040304050005020304" pitchFamily="18" charset="0"/>
            </a:endParaRPr>
          </a:p>
        </p:txBody>
      </p:sp>
      <p:pic>
        <p:nvPicPr>
          <p:cNvPr id="3" name="Picture 2">
            <a:extLst>
              <a:ext uri="{FF2B5EF4-FFF2-40B4-BE49-F238E27FC236}">
                <a16:creationId xmlns:a16="http://schemas.microsoft.com/office/drawing/2014/main" id="{2BA0B3DD-B3EB-C797-A5AD-DF434D2441BC}"/>
              </a:ext>
            </a:extLst>
          </p:cNvPr>
          <p:cNvPicPr>
            <a:picLocks noChangeAspect="1"/>
          </p:cNvPicPr>
          <p:nvPr/>
        </p:nvPicPr>
        <p:blipFill>
          <a:blip r:embed="rId2"/>
          <a:stretch>
            <a:fillRect/>
          </a:stretch>
        </p:blipFill>
        <p:spPr>
          <a:xfrm>
            <a:off x="951872" y="810672"/>
            <a:ext cx="4363706" cy="5818275"/>
          </a:xfrm>
          <a:prstGeom prst="rect">
            <a:avLst/>
          </a:prstGeom>
        </p:spPr>
      </p:pic>
    </p:spTree>
    <p:extLst>
      <p:ext uri="{BB962C8B-B14F-4D97-AF65-F5344CB8AC3E}">
        <p14:creationId xmlns:p14="http://schemas.microsoft.com/office/powerpoint/2010/main" val="2381713250"/>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30C2D8-DD84-AA24-FDA6-D6FC1B403414}"/>
            </a:ext>
          </a:extLst>
        </p:cNvPr>
        <p:cNvGrpSpPr/>
        <p:nvPr/>
      </p:nvGrpSpPr>
      <p:grpSpPr>
        <a:xfrm>
          <a:off x="0" y="0"/>
          <a:ext cx="0" cy="0"/>
          <a:chOff x="0" y="0"/>
          <a:chExt cx="0" cy="0"/>
        </a:xfrm>
      </p:grpSpPr>
      <p:sp useBgFill="1">
        <p:nvSpPr>
          <p:cNvPr id="8203" name="Rectangle 820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8" name="Picture 6" descr="How to Craft a Compelling Conclusion: Tips and Techniques - MES">
            <a:extLst>
              <a:ext uri="{FF2B5EF4-FFF2-40B4-BE49-F238E27FC236}">
                <a16:creationId xmlns:a16="http://schemas.microsoft.com/office/drawing/2014/main" id="{29870A8A-7761-9A2D-4577-CFC7F6A6EE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882" b="-1"/>
          <a:stretch>
            <a:fillRect/>
          </a:stretch>
        </p:blipFill>
        <p:spPr bwMode="auto">
          <a:xfrm>
            <a:off x="2522358" y="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8205" name="Rectangle 820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6FC7F1DF-3313-4C04-7EE7-B49F31BC6CE0}"/>
              </a:ext>
            </a:extLst>
          </p:cNvPr>
          <p:cNvSpPr/>
          <p:nvPr/>
        </p:nvSpPr>
        <p:spPr>
          <a:xfrm>
            <a:off x="2642616" y="461454"/>
            <a:ext cx="6906768" cy="96075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a:lnSpc>
                <a:spcPct val="90000"/>
              </a:lnSpc>
              <a:spcBef>
                <a:spcPct val="0"/>
              </a:spcBef>
              <a:spcAft>
                <a:spcPts val="600"/>
              </a:spcAft>
            </a:pPr>
            <a:r>
              <a:rPr lang="en-US" sz="4000" dirty="0">
                <a:solidFill>
                  <a:schemeClr val="tx1"/>
                </a:solidFill>
                <a:latin typeface="Amasis MT Pro Light" panose="02040304050005020304" pitchFamily="18" charset="0"/>
                <a:ea typeface="+mj-ea"/>
                <a:cs typeface="+mj-cs"/>
              </a:rPr>
              <a:t>Conclusion &amp; Future Directions</a:t>
            </a:r>
          </a:p>
        </p:txBody>
      </p:sp>
      <p:sp>
        <p:nvSpPr>
          <p:cNvPr id="3" name="Rectangle: Rounded Corners 2">
            <a:extLst>
              <a:ext uri="{FF2B5EF4-FFF2-40B4-BE49-F238E27FC236}">
                <a16:creationId xmlns:a16="http://schemas.microsoft.com/office/drawing/2014/main" id="{55B87CDD-5E62-F80F-A1AB-538CA97C9CDF}"/>
              </a:ext>
            </a:extLst>
          </p:cNvPr>
          <p:cNvSpPr/>
          <p:nvPr/>
        </p:nvSpPr>
        <p:spPr>
          <a:xfrm>
            <a:off x="1484762" y="1691005"/>
            <a:ext cx="4419600" cy="422516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ormAutofit/>
          </a:bodyPr>
          <a:lstStyle/>
          <a:p>
            <a:pPr marL="57150">
              <a:lnSpc>
                <a:spcPct val="90000"/>
              </a:lnSpc>
              <a:spcAft>
                <a:spcPts val="600"/>
              </a:spcAft>
            </a:pPr>
            <a:r>
              <a:rPr lang="en-US" sz="1900" b="1" dirty="0">
                <a:solidFill>
                  <a:schemeClr val="tx1"/>
                </a:solidFill>
                <a:latin typeface="Amasis MT Pro Light" panose="02040304050005020304" pitchFamily="18" charset="0"/>
              </a:rPr>
              <a:t>What We Achieved</a:t>
            </a:r>
          </a:p>
          <a:p>
            <a:pPr marL="400050" indent="-342900">
              <a:lnSpc>
                <a:spcPct val="90000"/>
              </a:lnSpc>
              <a:spcAft>
                <a:spcPts val="600"/>
              </a:spcAft>
              <a:buFont typeface="Wingdings" panose="05000000000000000000" pitchFamily="2" charset="2"/>
              <a:buChar char="ü"/>
            </a:pPr>
            <a:r>
              <a:rPr lang="en-US" sz="1900" dirty="0">
                <a:solidFill>
                  <a:schemeClr val="tx1"/>
                </a:solidFill>
                <a:latin typeface="Amasis MT Pro Light" panose="02040304050005020304" pitchFamily="18" charset="0"/>
              </a:rPr>
              <a:t>Built a complete RAG pipeline for movie QA using FAISS, </a:t>
            </a:r>
            <a:r>
              <a:rPr lang="en-US" sz="1900" dirty="0" err="1">
                <a:solidFill>
                  <a:schemeClr val="tx1"/>
                </a:solidFill>
                <a:latin typeface="Amasis MT Pro Light" panose="02040304050005020304" pitchFamily="18" charset="0"/>
              </a:rPr>
              <a:t>LangChain</a:t>
            </a:r>
            <a:r>
              <a:rPr lang="en-US" sz="1900" dirty="0">
                <a:solidFill>
                  <a:schemeClr val="tx1"/>
                </a:solidFill>
                <a:latin typeface="Amasis MT Pro Light" panose="02040304050005020304" pitchFamily="18" charset="0"/>
              </a:rPr>
              <a:t>, and </a:t>
            </a:r>
            <a:r>
              <a:rPr lang="en-US" sz="1900" dirty="0" err="1">
                <a:solidFill>
                  <a:schemeClr val="tx1"/>
                </a:solidFill>
                <a:latin typeface="Amasis MT Pro Light" panose="02040304050005020304" pitchFamily="18" charset="0"/>
              </a:rPr>
              <a:t>Ollama</a:t>
            </a:r>
            <a:endParaRPr lang="en-US" sz="1900" dirty="0">
              <a:solidFill>
                <a:schemeClr val="tx1"/>
              </a:solidFill>
              <a:latin typeface="Amasis MT Pro Light" panose="02040304050005020304" pitchFamily="18" charset="0"/>
            </a:endParaRPr>
          </a:p>
          <a:p>
            <a:pPr marL="400050" indent="-342900">
              <a:lnSpc>
                <a:spcPct val="90000"/>
              </a:lnSpc>
              <a:spcAft>
                <a:spcPts val="600"/>
              </a:spcAft>
              <a:buFont typeface="Wingdings" panose="05000000000000000000" pitchFamily="2" charset="2"/>
              <a:buChar char="ü"/>
            </a:pPr>
            <a:r>
              <a:rPr lang="en-US" sz="1900" dirty="0">
                <a:solidFill>
                  <a:schemeClr val="tx1"/>
                </a:solidFill>
                <a:latin typeface="Amasis MT Pro Light" panose="02040304050005020304" pitchFamily="18" charset="0"/>
              </a:rPr>
              <a:t>Benchmarked Llama3, Mistral, and Phi3 across five evaluation dimensions</a:t>
            </a:r>
          </a:p>
          <a:p>
            <a:pPr marL="400050" indent="-342900">
              <a:lnSpc>
                <a:spcPct val="90000"/>
              </a:lnSpc>
              <a:spcAft>
                <a:spcPts val="600"/>
              </a:spcAft>
              <a:buFont typeface="Wingdings" panose="05000000000000000000" pitchFamily="2" charset="2"/>
              <a:buChar char="ü"/>
            </a:pPr>
            <a:r>
              <a:rPr lang="en-US" sz="1900" dirty="0">
                <a:solidFill>
                  <a:schemeClr val="tx1"/>
                </a:solidFill>
                <a:latin typeface="Amasis MT Pro Light" panose="02040304050005020304" pitchFamily="18" charset="0"/>
              </a:rPr>
              <a:t>Demonstrated that RAG meaningfully improves grounding, accuracy, and reasoning</a:t>
            </a:r>
          </a:p>
          <a:p>
            <a:pPr marL="400050" indent="-342900">
              <a:lnSpc>
                <a:spcPct val="90000"/>
              </a:lnSpc>
              <a:spcAft>
                <a:spcPts val="600"/>
              </a:spcAft>
              <a:buFont typeface="Wingdings" panose="05000000000000000000" pitchFamily="2" charset="2"/>
              <a:buChar char="ü"/>
            </a:pPr>
            <a:r>
              <a:rPr lang="en-US" sz="1900" dirty="0">
                <a:solidFill>
                  <a:schemeClr val="tx1"/>
                </a:solidFill>
                <a:latin typeface="Amasis MT Pro Light" panose="02040304050005020304" pitchFamily="18" charset="0"/>
              </a:rPr>
              <a:t>Phi-3 emerged as the best-performing model overall with strong accuracy</a:t>
            </a:r>
            <a:endParaRPr kumimoji="0" lang="en-US" sz="1900" i="0" u="none" strike="noStrike" cap="none" spc="0" normalizeH="0" baseline="0" noProof="0" dirty="0">
              <a:ln>
                <a:noFill/>
              </a:ln>
              <a:solidFill>
                <a:schemeClr val="tx1"/>
              </a:solidFill>
              <a:effectLst/>
              <a:uLnTx/>
              <a:uFillTx/>
              <a:latin typeface="Amasis MT Pro Light" panose="02040304050005020304" pitchFamily="18" charset="0"/>
            </a:endParaRPr>
          </a:p>
        </p:txBody>
      </p:sp>
      <p:sp>
        <p:nvSpPr>
          <p:cNvPr id="11" name="AutoShape 6" descr="How to create a Wikipedia article">
            <a:extLst>
              <a:ext uri="{FF2B5EF4-FFF2-40B4-BE49-F238E27FC236}">
                <a16:creationId xmlns:a16="http://schemas.microsoft.com/office/drawing/2014/main" id="{FDE659B5-888C-2C67-7D29-35F273D6151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Rectangle: Rounded Corners 1">
            <a:extLst>
              <a:ext uri="{FF2B5EF4-FFF2-40B4-BE49-F238E27FC236}">
                <a16:creationId xmlns:a16="http://schemas.microsoft.com/office/drawing/2014/main" id="{3A9BF4E7-F187-470E-572E-B6E835A18153}"/>
              </a:ext>
            </a:extLst>
          </p:cNvPr>
          <p:cNvSpPr/>
          <p:nvPr/>
        </p:nvSpPr>
        <p:spPr>
          <a:xfrm>
            <a:off x="6436237" y="1691005"/>
            <a:ext cx="4419600" cy="422516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ormAutofit lnSpcReduction="10000"/>
          </a:bodyPr>
          <a:lstStyle/>
          <a:p>
            <a:pPr marL="57150">
              <a:lnSpc>
                <a:spcPct val="90000"/>
              </a:lnSpc>
              <a:spcAft>
                <a:spcPts val="600"/>
              </a:spcAft>
            </a:pPr>
            <a:r>
              <a:rPr lang="en-US" sz="1900" b="1" dirty="0">
                <a:solidFill>
                  <a:schemeClr val="tx1"/>
                </a:solidFill>
                <a:latin typeface="Amasis MT Pro Light" panose="02040304050005020304" pitchFamily="18" charset="0"/>
              </a:rPr>
              <a:t>What's Next</a:t>
            </a:r>
          </a:p>
          <a:p>
            <a:pPr marL="400050" indent="-342900">
              <a:lnSpc>
                <a:spcPct val="90000"/>
              </a:lnSpc>
              <a:spcAft>
                <a:spcPts val="600"/>
              </a:spcAft>
              <a:buFont typeface="Wingdings" panose="05000000000000000000" pitchFamily="2" charset="2"/>
              <a:buChar char="ü"/>
            </a:pPr>
            <a:r>
              <a:rPr lang="en-US" sz="1900" dirty="0">
                <a:solidFill>
                  <a:schemeClr val="tx1"/>
                </a:solidFill>
                <a:latin typeface="Amasis MT Pro Light" panose="02040304050005020304" pitchFamily="18" charset="0"/>
              </a:rPr>
              <a:t>Expand the corpus to 20+ films across diverse genres</a:t>
            </a:r>
          </a:p>
          <a:p>
            <a:pPr marL="400050" indent="-342900">
              <a:lnSpc>
                <a:spcPct val="90000"/>
              </a:lnSpc>
              <a:spcAft>
                <a:spcPts val="600"/>
              </a:spcAft>
              <a:buFont typeface="Wingdings" panose="05000000000000000000" pitchFamily="2" charset="2"/>
              <a:buChar char="ü"/>
            </a:pPr>
            <a:r>
              <a:rPr lang="en-US" sz="1900" dirty="0">
                <a:solidFill>
                  <a:schemeClr val="tx1"/>
                </a:solidFill>
                <a:latin typeface="Amasis MT Pro Light" panose="02040304050005020304" pitchFamily="18" charset="0"/>
              </a:rPr>
              <a:t>Integrate a real-time conversational chatbot interface</a:t>
            </a:r>
          </a:p>
          <a:p>
            <a:pPr marL="400050" indent="-342900">
              <a:lnSpc>
                <a:spcPct val="90000"/>
              </a:lnSpc>
              <a:spcAft>
                <a:spcPts val="600"/>
              </a:spcAft>
              <a:buFont typeface="Wingdings" panose="05000000000000000000" pitchFamily="2" charset="2"/>
              <a:buChar char="ü"/>
            </a:pPr>
            <a:r>
              <a:rPr lang="en-US" sz="1900" dirty="0">
                <a:solidFill>
                  <a:schemeClr val="tx1"/>
                </a:solidFill>
                <a:latin typeface="Amasis MT Pro Light" panose="02040304050005020304" pitchFamily="18" charset="0"/>
              </a:rPr>
              <a:t>Experiment with larger frontier models (Llama3-70B, </a:t>
            </a:r>
            <a:r>
              <a:rPr lang="en-US" sz="1900" dirty="0" err="1">
                <a:solidFill>
                  <a:schemeClr val="tx1"/>
                </a:solidFill>
                <a:latin typeface="Amasis MT Pro Light" panose="02040304050005020304" pitchFamily="18" charset="0"/>
              </a:rPr>
              <a:t>Mixtral</a:t>
            </a:r>
            <a:r>
              <a:rPr lang="en-US" sz="1900" dirty="0">
                <a:solidFill>
                  <a:schemeClr val="tx1"/>
                </a:solidFill>
                <a:latin typeface="Amasis MT Pro Light" panose="02040304050005020304" pitchFamily="18" charset="0"/>
              </a:rPr>
              <a:t>)</a:t>
            </a:r>
          </a:p>
          <a:p>
            <a:pPr marL="400050" indent="-342900">
              <a:lnSpc>
                <a:spcPct val="90000"/>
              </a:lnSpc>
              <a:spcAft>
                <a:spcPts val="600"/>
              </a:spcAft>
              <a:buFont typeface="Wingdings" panose="05000000000000000000" pitchFamily="2" charset="2"/>
              <a:buChar char="ü"/>
            </a:pPr>
            <a:r>
              <a:rPr lang="en-US" sz="1900" dirty="0">
                <a:solidFill>
                  <a:schemeClr val="tx1"/>
                </a:solidFill>
                <a:latin typeface="Amasis MT Pro Light" panose="02040304050005020304" pitchFamily="18" charset="0"/>
              </a:rPr>
              <a:t>Build an evaluation harness for automated metric scoring</a:t>
            </a:r>
          </a:p>
          <a:p>
            <a:pPr marL="57150">
              <a:lnSpc>
                <a:spcPct val="90000"/>
              </a:lnSpc>
              <a:spcAft>
                <a:spcPts val="600"/>
              </a:spcAft>
            </a:pPr>
            <a:r>
              <a:rPr lang="en-US" sz="1900" dirty="0">
                <a:solidFill>
                  <a:schemeClr val="tx1"/>
                </a:solidFill>
                <a:latin typeface="Amasis MT Pro Light" panose="02040304050005020304" pitchFamily="18" charset="0"/>
              </a:rPr>
              <a:t>This project demonstrates that RAG is a viable and powerful framework for domain-specific deep-reasoning tasks beyond traditional QA.</a:t>
            </a:r>
            <a:endParaRPr kumimoji="0" lang="en-US" sz="1900" i="0" u="none" strike="noStrike" cap="none" spc="0" normalizeH="0" baseline="0" noProof="0" dirty="0">
              <a:ln>
                <a:noFill/>
              </a:ln>
              <a:solidFill>
                <a:schemeClr val="tx1"/>
              </a:solidFill>
              <a:effectLst/>
              <a:uLnTx/>
              <a:uFillTx/>
              <a:latin typeface="Amasis MT Pro Light" panose="02040304050005020304" pitchFamily="18" charset="0"/>
            </a:endParaRPr>
          </a:p>
        </p:txBody>
      </p:sp>
    </p:spTree>
    <p:extLst>
      <p:ext uri="{BB962C8B-B14F-4D97-AF65-F5344CB8AC3E}">
        <p14:creationId xmlns:p14="http://schemas.microsoft.com/office/powerpoint/2010/main" val="1534462381"/>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erial view of a highway near the ocean">
            <a:extLst>
              <a:ext uri="{FF2B5EF4-FFF2-40B4-BE49-F238E27FC236}">
                <a16:creationId xmlns:a16="http://schemas.microsoft.com/office/drawing/2014/main" id="{3683DC94-F144-294A-DCFC-53BA827B1094}"/>
              </a:ext>
            </a:extLst>
          </p:cNvPr>
          <p:cNvPicPr>
            <a:picLocks noChangeAspect="1"/>
          </p:cNvPicPr>
          <p:nvPr/>
        </p:nvPicPr>
        <p:blipFill>
          <a:blip r:embed="rId2">
            <a:alphaModFix amt="50000"/>
          </a:blip>
          <a:srcRect t="11833" b="13167"/>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A56C3916-23A7-8C76-ACEF-F2C8122E8E92}"/>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dirty="0">
                <a:solidFill>
                  <a:srgbClr val="FFFFFF"/>
                </a:solidFill>
              </a:rPr>
              <a:t>Thank You</a:t>
            </a:r>
          </a:p>
        </p:txBody>
      </p:sp>
    </p:spTree>
    <p:extLst>
      <p:ext uri="{BB962C8B-B14F-4D97-AF65-F5344CB8AC3E}">
        <p14:creationId xmlns:p14="http://schemas.microsoft.com/office/powerpoint/2010/main" val="1965951088"/>
      </p:ext>
    </p:extLst>
  </p:cSld>
  <p:clrMapOvr>
    <a:overrideClrMapping bg1="dk1" tx1="lt1" bg2="dk2" tx2="lt2" accent1="accent1" accent2="accent2" accent3="accent3" accent4="accent4" accent5="accent5" accent6="accent6" hlink="hlink" folHlink="folHlink"/>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747</TotalTime>
  <Words>1042</Words>
  <Application>Microsoft Office PowerPoint</Application>
  <PresentationFormat>Widescreen</PresentationFormat>
  <Paragraphs>110</Paragraphs>
  <Slides>14</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14</vt:i4>
      </vt:variant>
    </vt:vector>
  </HeadingPairs>
  <TitlesOfParts>
    <vt:vector size="24" baseType="lpstr">
      <vt:lpstr>Amasis MT Pro Light</vt:lpstr>
      <vt:lpstr>Aptos</vt:lpstr>
      <vt:lpstr>Arial</vt:lpstr>
      <vt:lpstr>Calibri</vt:lpstr>
      <vt:lpstr>Calibri Light</vt:lpstr>
      <vt:lpstr>Calisto MT</vt:lpstr>
      <vt:lpstr>Univers Condensed</vt:lpstr>
      <vt:lpstr>Wingdings</vt:lpstr>
      <vt:lpstr>ChronicleVTI</vt:lpstr>
      <vt:lpstr>Office 2013 - 2022 Theme</vt:lpstr>
      <vt:lpstr>Movie Plot + Character Intelligence using RAG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Deepak Avinash</dc:creator>
  <cp:lastModifiedBy>Katuri, Deepak Avinash</cp:lastModifiedBy>
  <cp:revision>30</cp:revision>
  <dcterms:created xsi:type="dcterms:W3CDTF">2026-04-03T00:58:59Z</dcterms:created>
  <dcterms:modified xsi:type="dcterms:W3CDTF">2026-04-24T16:16:43Z</dcterms:modified>
</cp:coreProperties>
</file>